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 10초] 팀 소개는 짧게. 발표는 C가 이어서 하고, 질문은 각 파트 담당이 직접 답한다고 먼저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30초] 문제: 셀러는 쿠팡·네이버에서 판매·광고 데이터를 따로 내려받아 엑셀로 합치고 ROAS를 손으로 계산하고, 왜 떨어졌는지는 감으로 판단한다.
해결: 파일을 올리면 공통 구조로 정리하고 KPI·전월 대비·플랫폼 비교를 계산하며, 질문하면 AI가 계산된 숫자를 근거로 확인할 항목과 행동을 제안한다.
핵심 원칙을 꼭 말한다: 계산은 코드가, 설명은 AI가.
하지 말 것: 'AI가 계산한다'.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A.md(10/1 16:45 갱신본) 기준.
[약 1분] 여러 파일을 한 번에 올리면, 분석하기 전에 파일마다 플랫폼·기간·행 수와 미리보기 10행을 보여 준다. 기간 정보가 없는 파일은 월을 직접 입력받는다. 파일당 5MB, .xlsx/.csv.
[예상 질문] 잘못된 파일을 올리면요? 파일마다 원인을 알려 준다. 예: '필수 컬럼이 없습니다 (광고매출)', '숫자로 읽을 수 없는 값이 있습니다 (2행 · 총매출)', 손상 파일 안내. 확장자가 틀리면 서버로 보내기 전에 막고, 검증에 실패해도 올린 파일 목록은 그대로 남는다 (#25, TEST_RESULTS 3장).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10/1 오후 #55 화면 기준이며 A.md 갱신본(16:45)과 같다.
[약 1분] 분석이 끝나면 간단보기가 바로 나온다. 전체 요약(매출액 12,600,000원 · 광고비 1,920,000원), 쿠팡·네이버 카드(매출액·광고비·ROAS와 전월 값, 전월 대비), 이상 신호 배지('전체: 광고비 +28.0% 증가, ROAS -14.2%p'). 자세히보기에서는 주문·판매량·광고매출 지표 표와 월별 추이를 볼 수 있다.
쿠팡: 매출 8,000,000원 +21.2% · 광고비 1,200,000원 +33.3% · ROAS 291.7%(전월 311.1%, −19.4%p). 네이버: 매출(순) 4,600,000원 +21.1% · 광고비 720,000원 +20.0% · ROAS 347.2%(전월 350.0%, −2.8%p).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A.md(10/1 16:45 갱신본) 기준.
[약 1분] 오른쪽 아래 'AI 물어보기' 버튼으로 대화창을 연다. 예시 질문 3개, 질문 300자, 창을 닫아도 대화는 남는다. 답변은 요약·근거·확인 항목·행동 제안·한계로 나뉘고 결과 표도 함께 보인다. 그 아래 'AI 분석 요약하기' 버튼은 요약 창을 연다(시연에서는 누르지 않는다). 응답 상태 3종(ok / 지원하지 않는 질문 / AI 오류)을 처리한다. AI가 실패하면 요약 창에만 오류 안내와 '다시 시도' 버튼이 나오고 대시보드 숫자는 그대로다.
[예상 질문]
- AI가 실패하면 화면은? 대시보드 숫자는 서버가 코드로 계산한 값이라 그대로 보이고 AI 분석 요약 창에만 오류 안내와 '다시 시도' 버튼이 나온다. 배포 화면에서 AI 오류 응답을 일부러 만들어 확인했고(TEST_RESULTS 6장), 화면이 바뀐 뒤 10/1 오후에 새 화면에서 다시 확인했다(A.md).
- 모바일에서도 되나요? 새 화면(#55)을 배포 화면과 로컬에서 375px 폭으로 줄여 업로드부터 간단보기·자세히보기, AI 물어보기 창까지 확인했다. 페이지 가로 스크롤이 없고 쿠팡·네이버 카드는 세로로 쌓이며 상세 표만 자기 칸 안에서 옆으로 스크롤된다. 스크롤하는 동안 오른쪽 아래 AI 버튼 2개가 카드 일부를 가리지만 페이지 끝에 여백이 있어 마지막 내용까지 읽을 수 있다. 실제 휴대폰 기기로는 확인하지 못했다(10/1 오후, FE-06, #45·#55).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화면(Next.js·Vercel)이 서버(FastAPI·Render)에 파일을 보내면, 서버가 C의 계산(analysis/)과 D의 AI(ai/)를 차례로 불러 결과를 JSON 하나로 돌려준다.
API는 3개: /health, /api/preview, /api/analyze. 응답: kpis·comparison·rows·signals·store·insight.
[예상 질문]
- 왜 계산과 AI를 나눴나요? 숫자는 코드(pandas)가 계산해서 항상 같은 결과가 나오고, AI는 질문 해석과 설명만 한다. AI가 숫자를 만들면 틀릴 수 있어서다.
- 서버가 느리거나 잠들면? 무료 플랜이라 첫 요청이 50초 이상 걸릴 수 있어서 발표 30분 전에 /health로 깨워 둔다. 배포 중에도 이전 버전이 계속 돌아간다.
- API 키와 업로드 데이터는 안전한가요? 키는 배포 환경에서는 Render 환경변수로 관리하고 개발용 backend/.env 는 저장소에서 제외한다. 코드·저장소·화면 코드에는 키가 없다(저장소 전체 기록에서 키 패턴 0건). 업로드 파일은 서버에 저장하지 않고 메모리에서만 쓴다. 다만 AI 설명을 만들 때 계산 결과(KPI, 상품명 등)는 OpenAI로 전송되고 원본 파일 전체는 보내지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파일을 먼저 검사하고(확장자·개수·크기), 모든 오류를 같은 모양(code·message·details)으로 보낸다. AI 단계에서 무슨 일이 생겨도 KPI·차트는 정상으로 나간다.
파일당 5MB, 오류 코드 17개. 계약 변경은 작성자 + 3명 동의가 필요하다.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backend/ 변경이 main에 들어가면 GitHub Actions가 Render 배포를 요청하고, 실제 반영(Live)은 Render Events에서 확인한다. 이전에는 손으로 배포하다 반영이 빠진 적이 있었다(#17).
배포 워크플로 13/13 성공(자동 12 · 수동 1), 백엔드 테스트 646개 통과(main 기준, 2026-10-01 직접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[40초] 컬럼을 공통 구조(필드 9개)로 정규화한 뒤 KPI 6개·전월 대비·플랫폼 비교·이상 신호를 계산한다. 팀 템플릿과 실제 내보내기 4종(쿠팡 판매·광고, 네이버 쇼핑검색광고, 스마트스토어 판매 분석)을 읽는다.
한계도 같이 말한다: 판매·광고 파일의 상품 ID가 달라 상품 단위로는 합쳐지지 않는다(플랫폼·월 합계는 정확). 기간 정보가 없는 파일은 화면에서 월을 직접 고른다.
하지 말 것: '쿠팡·네이버 리포트는 모두 올리면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정답을 미리 만들어 두고 앱 결과와 자동 비교했더니 100% 일치했다. 매출은 21.2% 늘었고 광고비는 28.0% 늘었으며, ROAS는 326.7%에서 312.5%로 14.2%p 떨어졌다. 같은 입력을 10번 돌려도 결과가 같고, 백엔드 전체 자동 테스트는 646개가 통과한다.
실제 형식 파일도 원본 엑셀을 따로 합산한 값과 일치했다: 쿠팡 ROAS 551.8%(14일 기준), 네이버 357.9%.
주의: 쿠팡 광고매출은 14일 기준이고 팀이 합의한 기준이 아니다. 1일 기준이면 417.9%라서 ROAS를 말할 때 기준을 같이 말한다.
하지 말 것: '모든 경우에 100% 정확하다'(정답 파일과 고정 테스트 세트 기준이라고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테스트로 찾은 문제 3가지: 스마트스토어 파일의 '전체' 행 때문에 매출이 3배로 집계됨(6,346,200 → 정답 2,115,400), 7월+9월만 있을 때 '전월 대비'가 거짓으로 표시됨(달력 기준 앞달이 없으면 비교하지 않고 '-'), 깨진 파일에서 서버 오류가 남.
[시연 30초] shared/fixtures/failures/coupang_2026-09_missing_columns.csv 를 올려 '필수 컬럼이 없습니다 (광고매출)' 안내를 보여 준다. 실제 시연은 15번 구간에서 탭2(Ctrl+2)로 한다.
[예상 질문]
- 왜 직전 업로드 월이 아니라 달력 기준인가요? 7월과 9월만 있을 때 9월을 7월과 비교하면서 '전월 대비'라고 하면 사실이 아니라서다. 앞달 자료가 없으면 비교하지 않고 '-'로 표시한다.
- 쿠팡 ROAS는 어떤 기준인가요? 총 전환매출액 14일 기준이다. 1일 기준이면 값이 달라진다(샘플에서 551.8% → 417.9%).
- 실제 판매 데이터로 검증했나요? 아니요. 실제 형식을 본뜬 합성 샘플로 검증했고, 실제 내보내기와 완전히 같다는 보장은 없다. 원본 엑셀 합계와는 일치한다.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“광고 효율이 가장 안 좋은 플랫폼 어디야?”를 AI가 지표·대상·정렬 조건으로 바꾸고, 서버가 조건을 검증한 뒤 코드가 계산한다.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한 지표로는 답하기 어려운 질문('판매 추세로 볼 때 저평가된 상품은?', '관리해야 할 상품은?')도 지원한다. 코드가 상품마다 매출·주문·판매량·광고비·광고매출·로아스를 최신 월과 달력상 바로 전월로 비교해 점수와 순위를 정하고, 계산된 근거만 문장으로 설명한다. 이 경로는 AI 모델을 호출하지 않고 같은 입력이면 같은 결과가 나온다.
'저평가'는 시장가치 평가가 아니라 '현재 판매·광고 데이터에서 추가로 볼 가치가 있는 기회 상품 후보'라고 말한다.
한계: 최신 월과 바로 전월 2개월 비교만 한다 · 미래 예측 안 함 · 원가·재고·마진·경쟁사 데이터 없음 · 후보가 없으면 '없음'으로 답한다.
배포 화면에서 확인함(10/1 16:20): 샘플 CSV(8·9월)로 '판매 추세로 볼 때 저평가된 상품은?'을 물으면 기회 상품 후보 5개(1위 네이버 무선 이어폰, 충족 조건 4/4, 쿠팡 두 상품은 3/4)가 표·근거·확인 항목·한계 문구와 함께 나온다. 샘플은 상품끼리 증감률이 같아서 동점은 플랫폼·상품 ID 순으로 정렬한다. 오늘 시연 4단계에는 넣지 않았다(시간, 시간이 남으면 선택 시연).
[예상 질문]
- '저평가'의 기준이 뭔가요? 매출 증가, 주문 또는 판매량 증가, 로아스가 같은 플랫폼 비교 상품의 중앙값 이상, 매출 증가율이 광고비 증가율보다 큼. 매출·주문(판매량) 증가는 필수 조건이다.
- 마진이 좋은 상품은? 원가·마진·재고·경쟁사 데이터가 없어 계속 거절한다.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70초] 순위·점수·수치는 모두 코드(pandas)가 계산하고, AI가 고른 근거도 서버가 확인한 뒤 서버가 사실 문장을 만든다. 그래서 답변이 근거·확인할 항목·다음 행동으로 나뉘고, 데이터에 없는 원인(원가·재고·경쟁사 등)은 사실로 말하지 않고 확인할 항목으로 제안한다. 지원하지 않는 질문은 다른 질문으로 바꾸지 않고 안내하고, AI 호출이 실패해도 KPI·차트는 그대로 남고 다시 시도할 수 있다.
이전 고정 질문 40개는 40/40 통과(지원 26개·미지원 14개, 검증 revision 29a90ea, #22). 모든 질문에 항상 정확하다는 뜻은 아니다.
▶ 다음 장(15번)이 시연입니다. 지금 사이트 탭을 열어 두고, 샘플 파일(shared/fixtures/)이 어디 있는지 확인하세요. D 부분은 시연 ②(질문)입니다.
[예상 질문]
- 엑셀 숫자를 AI가 직접 계산하나요? 아니요. 합계와 광고 효율 같은 숫자는 코드가 계산하고, AI는 질문을 분석 조건으로 바꾸고 계산 결과를 바탕으로 설명한다.
- 자료에 없는 내용도 알려주나요? 업로드 자료와 계산 결과만 근거로 답한다. 데이터에 없는 원인은 단정하지 않고 확인할 항목으로 제안한다.
- AI가 느리거나 오류가 나면? 계산한 KPI와 차트는 그대로 보이고, AI 영역에 상태 안내와 재시도가 나온다.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시연 시작: 사이트 탭으로 전환합니다 ▶▶▶
말하기 규칙(D님 피드백): ① ROAS는 '로아스'로 읽기 ② 금액은 끝자리까지 읽지 않고 '약 ○만 원' 또는 화면을 가리키기 ③ 시연 ①에서 모두에게 '원래는 더 넓은 기간도 분석할 수 있지만 MVP라서 예시로 두 달 자료만 넣었다'고 말하기.
사이트: https://ai-seller-insight.vercel.app — 미리 열어 둔 탭 3개를 Ctrl+1/2/3으로 전환(탭1=①②, 탭2=③, 탭3=④).
시작 전 확인: 발표 30분 전에 health를 열어 서버를 깨웠는지, 사이트 탭 3개가 모두 빈 화면인지. ZEP 창에서는 F5를 누르지 않는다.
샘플 파일 위치: 시연파일 폴더의 1_정상4개 · 3_오류1개 · 4_실제내보내기4개 (원본은 저장소 shared/fixtures/). 다운로드 폴더의 _1 파일은 쓰지 않기(숫자가 두 배).
[약 2분 30초] 시연은 파트별로 나누지 않고 한 번에 이어서 한다. 이 슬라이드는 시연 동안 켜 둔다.
1) 탭1: 정상 파일 4개(coupang_2026-08/09.csv, naver_2026-08/09.csv)를 올리고 분석 시작 → 분석이 끝나면 간단보기가 바로 나온다(선택 화면 없음).
   ★ 화면 확인함(10/1 15:30경): 전체 요약 = 매출액 12,600,000원 · 광고비 1,920,000원. 쿠팡 카드 = 매출액 8,000,000원 +21.2% · 광고비 1,200,000원 +33.3% · ROAS 291.7%(전월 311.1%, −19.4%p). 네이버 카드 = 매출액(순) 4,600,000원 +21.1% · 광고비 720,000원 +20.0% · ROAS 347.2%(전월 350.0%, −2.8%p). 이상 신호 배지 '전체: 광고비 +28.0% 증가, ROAS -14.2%p'. 자세히보기를 누르면 지표 표(쿠팡: 주문 520건, 판매량 640개, 광고매출 3,500,000원 등)와 월별 추이. 맨 위 '전체 플랫폼/쿠팡/네이버' 배지는 누르지 않는다.
2) 탭1에서 이어서: 우측 하단 'AI 물어보기'(요약 버튼이 아님)에 '광고 효율이 가장 안 좋은 플랫폼 어디야?' → 쿠팡 ROAS 291.7% → 네이버 347.2%.
   ★ 화면 확인함(리허설): 맨 위 한 줄은 숫자만 나열(쿠팡 291.7%, 네이버 347.2%, 전체 ROAS 증감 −14.2%p)하고 '쿠팡이 가장 낮다'는 말은 없다 → 표를 보며 직접 말한다. 근거는 AI가 매번 골라서 실행할 때마다 달라진다(12:25에는 8개, 15:30경에는 6개) → 항목을 하나씩 읽지 말고 '플랫폼별 ROAS와 전체 ROAS, 지난달 대비 변화가 서버 계산 결과로 들어 있다'고만 말한다. 안 바뀌는 것: 표, 확인 항목 '광고비 증가와 ROAS 하락이 함께 나타난 기간의 집행 내역을 확인하세요', 행동 제안 '광고비 조정에 앞서 캠페인별 비용과 전환매출 자료를 대조하세요'. 행동 제안은 한두 줄로 매번 달라질 수 있다.
   ✅ #54(한계 문구 정정) 배포 후 화면 확인함: 맨 아래가 '지원 입력은 … 쿠팡 판매·광고 리포트, 네이버 쇼핑검색광고 소재 보고서입니다. 판매·광고 파일은 플랫폼·월 단위로 합산하며 …'.
3) 탭2(Ctrl+2): 시연파일의 3_오류1개 안에 있는 coupang_2026-09_missing_columns.csv → '필수 컬럼이 없습니다 (광고매출)'. 화면 확인함: 안내 문구가 나오고 분석은 진행되지 않는다.
4) 탭3(Ctrl+3): 시연파일의 4_실제내보내기4개 안 실제 형식 4개를 올린다 → '기간 정보가 없는 파일이 2개 있다'는 안내(화면 확인함) → 월 2026-09 입력 → 간단보기. ④는 간단보기만 보여 주고 자세히보기는 읽지 않는다.
   ★ 화면 확인함(15:45~15:50): 전체 요약 매출액 53,501,670원 · 광고비 9,385,091원, 전월 대비는 한 달 자료라 '비교 불가'. 쿠팡 카드 = 매출액 51,386,270원 · 광고비 6,336,528원 · ROAS 551.8%(14일 기준). 네이버는 스마트스토어가 있어서 '네이버 스마트스토어' 카드 = 순매출 2,115,400원 · 광고비 3,048,563원 · ROAS 357.9%. 배지 '네이버: ROAS 357.9% (전체 488.8%) 대비 저효율'.
주의: 새로 고침(F5) 대신 탭 전환. 파일이 쌓이면 숫자가 두 배가 되니 단계마다 탭을 바꾼다. 분석 시작은 B의 유료 AI 키를 쓰므로 리허설에서는 한 번씩만.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저장소는 하나, 4명 모두 같은 저장소에서 일했다. 원칙은 main을 직접 고치지 않고 작업마다 브랜치에서 테스트 후 PR을 올리는 것이었다. 머지한 PR 46개 중 31개는 다른 팀원이 승인한 뒤 합쳤고, 나머지 15개는 승인 없이 합쳤다. 자기 PR을 자기가 승인한 경우는 없다. 다만 PR 없이 main에 바로 올라간 커밋이 10개 있다(초기 커밋·개발 문서 2개, README 수정 1개, 스마트스토어 기능 2개, 10/1 화면 작업 5개).
API와 공통 데이터 구조는 임의로 바꾸지 않고, 바꾸려면 작성자 + 3명 동의를 받았다(#20, #28). 결정 이력은 이슈로 남겼다(입력 범위 #21, 향후 과제 #32).
AI가 만든 코드도 직접 실행해 검증한다는 원칙이다. 예: 실제 형식 4종을 원본 엑셀에서 따로 합산해 앱 결과와 맞춰 봤다.
숫자: 머지한 PR 46개(10/1 오후 기준), 기간은 9/28~10/2 5일. 발표 직전에 `gh pr list --state merged` 로 다시 센다.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5일 일정이다. Day 1(9/28)은 저장소와 개발 문서 4종(PRD·TECH_SPEC·WORK_UNITS·FINAL_CHECKLIST)을 만들었다. Day 2(9/29)에 화면·서버·계산·AI를 처음 연결했고 PR 15개를 머지했다. Day 3(9/30)에 자동 배포를 붙이고 실패 케이스를 검증했으며 실제 내보내기 4종 지원을 넣었다(PR 18개). 배포는 계획(Day 4)보다 하루 빨랐다. Day 4(10/1)는 화면 개편, 상품 진단, 문서·시연 정리(PR 13개). Day 5(10/2)는 발표와 제출이다.
하지 말 것: '계획대로 모두 됐다'(WORK_UNITS 일부 항목은 아직 미체크이고, 판매·광고 상품 단위 병합은 향후 과제다).
PR 수는 발표 직전에 다시 센다(gh pr list --state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네 명이 층을 나눠 맡았다. A는 화면(업로드·미리보기, 간단·자세히 보기 대시보드, AI 물어보기 창), B는 서버와 배포(API 3개, 오류 코드 17개, 자동 배포), C는 데이터 계산(정규화·KPI·이상 신호, 정답 파일과 테스트), D는 AI(질문 해석, 근거 검증, 상품 진단, 품질 테스트)다. 층 사이는 공통 계약 문서로 이었고, 바꾸려면 작성자 + 3명 동의를 받았다. 리뷰는 WORK_UNITS에서 A→B, B→C, C→D, D→A로 정했다.
하지 말 것: '모두 똑같이 나눴다'(실제 코드량은 화면과 AI 쪽이 많았다).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한계를 숨기지 않고 말한다: ① 판매·광고 상품 ID가 달라 상품 단위 병합은 못 하고 플랫폼·월 합계만 정확하다(향후 과제). ② 쿠팡 광고매출은 14일 기준이라 1일 기준이면 ROAS가 다르다(551.8% → 417.9%). ③ 실제 형식을 본뜬 합성 샘플로 검증했고 실제 판매 데이터 검증은 아니다.
끝 문장: '상품 단위 병합은 향후 과제입니다.'
그 밖의 한계(D님 메모, 10/1): 상품 진단은 최신 월과 바로 전월 2개월 비교(#48 머지 완료) · 미래 매출 예측 안 함 · 원가·재고·마진·경쟁사 데이터 없음 · 같은 내용 파일 중복 업로드 시 중복 집계 · 합성 샘플 중심 검증 · Render 무료 서버 첫 요청 느림 · MVP라 로그인·DB 영구 저장 제외
하지 말 것: '실제 판매 데이터로 검증했다', '판매·광고가 상품 단위로 합쳐진다'.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질문은 해당 파트 담당에게 넘긴다. A=화면·사용 흐름, B=서버·배포·보안, C=계산·정확성, D=AI.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3B"/>
        </a:solidFill>
      </p:bgPr>
    </p:bg>
    <p:spTree>
      <p:nvGrpSpPr>
        <p:cNvPr id="1" name=""/>
        <p:cNvGrpSpPr/>
        <p:nvPr/>
      </p:nvGrpSpPr>
      <p:grpSpPr>
        <a:xfrm>
          <a:off x="0" y="0"/>
          <a:ext cx="0" cy="0"/>
          <a:chOff x="0" y="0"/>
          <a:chExt cx="0" cy="0"/>
        </a:xfrm>
      </p:grpSpPr>
      <p:sp>
        <p:nvSpPr>
          <p:cNvPr id="2" name="Text 0"/>
          <p:cNvSpPr txBox="1"/>
          <p:nvPr/>
        </p:nvSpPr>
        <p:spPr>
          <a:xfrm>
            <a:off x="640080" y="548640"/>
            <a:ext cx="5486400" cy="320040"/>
          </a:xfrm>
          <a:prstGeom prst="rect">
            <a:avLst/>
          </a:prstGeom>
          <a:noFill/>
          <a:ln/>
        </p:spPr>
        <p:txBody>
          <a:bodyPr wrap="square" lIns="0" tIns="0" rIns="0" bIns="0" rtlCol="0" anchor="t"/>
          <a:lstStyle/>
          <a:p>
            <a:pPr indent="0" marL="0">
              <a:buNone/>
            </a:pPr>
            <a:r>
              <a:rPr lang="en-US" sz="1300" b="1" dirty="0">
                <a:solidFill>
                  <a:srgbClr val="F5B83D"/>
                </a:solidFill>
                <a:latin typeface="Malgun Gothic" pitchFamily="34" charset="0"/>
                <a:ea typeface="Malgun Gothic" pitchFamily="34" charset="-122"/>
                <a:cs typeface="Malgun Gothic" pitchFamily="34" charset="-120"/>
              </a:rPr>
              <a:t>AIFFEL 1차 팀 프로젝트</a:t>
            </a:r>
            <a:endParaRPr lang="en-US" sz="1300" dirty="0"/>
          </a:p>
        </p:txBody>
      </p:sp>
      <p:sp>
        <p:nvSpPr>
          <p:cNvPr id="3" name="Text 1"/>
          <p:cNvSpPr txBox="1"/>
          <p:nvPr/>
        </p:nvSpPr>
        <p:spPr>
          <a:xfrm>
            <a:off x="640080" y="1234440"/>
            <a:ext cx="7863840" cy="914400"/>
          </a:xfrm>
          <a:prstGeom prst="rect">
            <a:avLst/>
          </a:prstGeom>
          <a:noFill/>
          <a:ln/>
        </p:spPr>
        <p:txBody>
          <a:bodyPr wrap="square" lIns="0" tIns="0" rIns="0" bIns="0" rtlCol="0" anchor="ctr"/>
          <a:lstStyle/>
          <a:p>
            <a:pPr indent="0" marL="0">
              <a:buNone/>
            </a:pPr>
            <a:r>
              <a:rPr lang="en-US" sz="4800" b="1" dirty="0">
                <a:solidFill>
                  <a:srgbClr val="FFFFFF"/>
                </a:solidFill>
                <a:latin typeface="Malgun Gothic" pitchFamily="34" charset="0"/>
                <a:ea typeface="Malgun Gothic" pitchFamily="34" charset="-122"/>
                <a:cs typeface="Malgun Gothic" pitchFamily="34" charset="-120"/>
              </a:rPr>
              <a:t>Seller Insight AI</a:t>
            </a:r>
            <a:endParaRPr lang="en-US" sz="4800" dirty="0"/>
          </a:p>
        </p:txBody>
      </p:sp>
      <p:sp>
        <p:nvSpPr>
          <p:cNvPr id="4" name="Text 2"/>
          <p:cNvSpPr txBox="1"/>
          <p:nvPr/>
        </p:nvSpPr>
        <p:spPr>
          <a:xfrm>
            <a:off x="640080" y="2331720"/>
            <a:ext cx="7863840" cy="868680"/>
          </a:xfrm>
          <a:prstGeom prst="rect">
            <a:avLst/>
          </a:prstGeom>
          <a:noFill/>
          <a:ln/>
        </p:spPr>
        <p:txBody>
          <a:bodyPr wrap="square" lIns="0" tIns="0" rIns="0" bIns="0" rtlCol="0" anchor="t"/>
          <a:lstStyle/>
          <a:p>
            <a:pPr indent="0" marL="0">
              <a:buNone/>
            </a:pPr>
            <a:r>
              <a:rPr lang="en-US" sz="2000" dirty="0">
                <a:solidFill>
                  <a:srgbClr val="CADFD9"/>
                </a:solidFill>
                <a:latin typeface="Malgun Gothic" pitchFamily="34" charset="0"/>
                <a:ea typeface="Malgun Gothic" pitchFamily="34" charset="-122"/>
                <a:cs typeface="Malgun Gothic" pitchFamily="34" charset="-120"/>
              </a:rPr>
              <a:t>여러 판매·광고 플랫폼 데이터를 한 번에 올리면</a:t>
            </a:r>
            <a:endParaRPr lang="en-US" sz="2000" dirty="0"/>
          </a:p>
          <a:p>
            <a:pPr indent="0" marL="0">
              <a:buNone/>
            </a:pPr>
            <a:r>
              <a:rPr lang="en-US" sz="2000" dirty="0">
                <a:solidFill>
                  <a:srgbClr val="CADFD9"/>
                </a:solidFill>
                <a:latin typeface="Malgun Gothic" pitchFamily="34" charset="0"/>
                <a:ea typeface="Malgun Gothic" pitchFamily="34" charset="-122"/>
                <a:cs typeface="Malgun Gothic" pitchFamily="34" charset="-120"/>
              </a:rPr>
              <a:t>KPI를 계산하고, AI가 다음 행동을 제안합니다</a:t>
            </a:r>
            <a:endParaRPr lang="en-US" sz="2000" dirty="0"/>
          </a:p>
        </p:txBody>
      </p:sp>
      <p:sp>
        <p:nvSpPr>
          <p:cNvPr id="5" name="Shape 3"/>
          <p:cNvSpPr/>
          <p:nvPr/>
        </p:nvSpPr>
        <p:spPr>
          <a:xfrm>
            <a:off x="640080" y="3657600"/>
            <a:ext cx="1828800" cy="640080"/>
          </a:xfrm>
          <a:prstGeom prst="roundRect">
            <a:avLst>
              <a:gd name="adj" fmla="val 14286"/>
            </a:avLst>
          </a:prstGeom>
          <a:solidFill>
            <a:srgbClr val="17504F"/>
          </a:solidFill>
          <a:ln w="6350">
            <a:solidFill>
              <a:srgbClr val="17504F"/>
            </a:solidFill>
            <a:prstDash val="solid"/>
          </a:ln>
        </p:spPr>
      </p:sp>
      <p:sp>
        <p:nvSpPr>
          <p:cNvPr id="6" name="Text 4"/>
          <p:cNvSpPr txBox="1"/>
          <p:nvPr/>
        </p:nvSpPr>
        <p:spPr>
          <a:xfrm>
            <a:off x="82296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A  </a:t>
            </a:r>
            <a:pPr indent="0" marL="0">
              <a:buNone/>
            </a:pPr>
            <a:r>
              <a:rPr lang="en-US" sz="1300" dirty="0">
                <a:solidFill>
                  <a:srgbClr val="FFFFFF"/>
                </a:solidFill>
                <a:latin typeface="Malgun Gothic" pitchFamily="34" charset="0"/>
                <a:ea typeface="Malgun Gothic" pitchFamily="34" charset="-122"/>
                <a:cs typeface="Malgun Gothic" pitchFamily="34" charset="-120"/>
              </a:rPr>
              <a:t>프론트엔드</a:t>
            </a:r>
            <a:endParaRPr lang="en-US" sz="1600" dirty="0"/>
          </a:p>
        </p:txBody>
      </p:sp>
      <p:sp>
        <p:nvSpPr>
          <p:cNvPr id="7" name="Shape 5"/>
          <p:cNvSpPr/>
          <p:nvPr/>
        </p:nvSpPr>
        <p:spPr>
          <a:xfrm>
            <a:off x="2606040" y="3657600"/>
            <a:ext cx="1828800" cy="640080"/>
          </a:xfrm>
          <a:prstGeom prst="roundRect">
            <a:avLst>
              <a:gd name="adj" fmla="val 14286"/>
            </a:avLst>
          </a:prstGeom>
          <a:solidFill>
            <a:srgbClr val="17504F"/>
          </a:solidFill>
          <a:ln w="6350">
            <a:solidFill>
              <a:srgbClr val="17504F"/>
            </a:solidFill>
            <a:prstDash val="solid"/>
          </a:ln>
        </p:spPr>
      </p:sp>
      <p:sp>
        <p:nvSpPr>
          <p:cNvPr id="8" name="Text 6"/>
          <p:cNvSpPr txBox="1"/>
          <p:nvPr/>
        </p:nvSpPr>
        <p:spPr>
          <a:xfrm>
            <a:off x="278892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B  </a:t>
            </a:r>
            <a:pPr indent="0" marL="0">
              <a:buNone/>
            </a:pPr>
            <a:r>
              <a:rPr lang="en-US" sz="1300" dirty="0">
                <a:solidFill>
                  <a:srgbClr val="FFFFFF"/>
                </a:solidFill>
                <a:latin typeface="Malgun Gothic" pitchFamily="34" charset="0"/>
                <a:ea typeface="Malgun Gothic" pitchFamily="34" charset="-122"/>
                <a:cs typeface="Malgun Gothic" pitchFamily="34" charset="-120"/>
              </a:rPr>
              <a:t>백엔드·배포</a:t>
            </a:r>
            <a:endParaRPr lang="en-US" sz="1600" dirty="0"/>
          </a:p>
        </p:txBody>
      </p:sp>
      <p:sp>
        <p:nvSpPr>
          <p:cNvPr id="9" name="Shape 7"/>
          <p:cNvSpPr/>
          <p:nvPr/>
        </p:nvSpPr>
        <p:spPr>
          <a:xfrm>
            <a:off x="4572000" y="3657600"/>
            <a:ext cx="1828800" cy="640080"/>
          </a:xfrm>
          <a:prstGeom prst="roundRect">
            <a:avLst>
              <a:gd name="adj" fmla="val 14286"/>
            </a:avLst>
          </a:prstGeom>
          <a:solidFill>
            <a:srgbClr val="17504F"/>
          </a:solidFill>
          <a:ln w="6350">
            <a:solidFill>
              <a:srgbClr val="17504F"/>
            </a:solidFill>
            <a:prstDash val="solid"/>
          </a:ln>
        </p:spPr>
      </p:sp>
      <p:sp>
        <p:nvSpPr>
          <p:cNvPr id="10" name="Text 8"/>
          <p:cNvSpPr txBox="1"/>
          <p:nvPr/>
        </p:nvSpPr>
        <p:spPr>
          <a:xfrm>
            <a:off x="475488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C  </a:t>
            </a:r>
            <a:pPr indent="0" marL="0">
              <a:buNone/>
            </a:pPr>
            <a:r>
              <a:rPr lang="en-US" sz="1300" dirty="0">
                <a:solidFill>
                  <a:srgbClr val="FFFFFF"/>
                </a:solidFill>
                <a:latin typeface="Malgun Gothic" pitchFamily="34" charset="0"/>
                <a:ea typeface="Malgun Gothic" pitchFamily="34" charset="-122"/>
                <a:cs typeface="Malgun Gothic" pitchFamily="34" charset="-120"/>
              </a:rPr>
              <a:t>데이터 분석</a:t>
            </a:r>
            <a:endParaRPr lang="en-US" sz="1600" dirty="0"/>
          </a:p>
        </p:txBody>
      </p:sp>
      <p:sp>
        <p:nvSpPr>
          <p:cNvPr id="11" name="Shape 9"/>
          <p:cNvSpPr/>
          <p:nvPr/>
        </p:nvSpPr>
        <p:spPr>
          <a:xfrm>
            <a:off x="6537960" y="3657600"/>
            <a:ext cx="1828800" cy="640080"/>
          </a:xfrm>
          <a:prstGeom prst="roundRect">
            <a:avLst>
              <a:gd name="adj" fmla="val 14286"/>
            </a:avLst>
          </a:prstGeom>
          <a:solidFill>
            <a:srgbClr val="17504F"/>
          </a:solidFill>
          <a:ln w="6350">
            <a:solidFill>
              <a:srgbClr val="17504F"/>
            </a:solidFill>
            <a:prstDash val="solid"/>
          </a:ln>
        </p:spPr>
      </p:sp>
      <p:sp>
        <p:nvSpPr>
          <p:cNvPr id="12" name="Text 10"/>
          <p:cNvSpPr txBox="1"/>
          <p:nvPr/>
        </p:nvSpPr>
        <p:spPr>
          <a:xfrm>
            <a:off x="672084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D  </a:t>
            </a:r>
            <a:pPr indent="0" marL="0">
              <a:buNone/>
            </a:pPr>
            <a:r>
              <a:rPr lang="en-US" sz="1300" dirty="0">
                <a:solidFill>
                  <a:srgbClr val="FFFFFF"/>
                </a:solidFill>
                <a:latin typeface="Malgun Gothic" pitchFamily="34" charset="0"/>
                <a:ea typeface="Malgun Gothic" pitchFamily="34" charset="-122"/>
                <a:cs typeface="Malgun Gothic" pitchFamily="34" charset="-120"/>
              </a:rPr>
              <a:t>AI</a:t>
            </a:r>
            <a:endParaRPr lang="en-US" sz="1600" dirty="0"/>
          </a:p>
        </p:txBody>
      </p:sp>
      <p:sp>
        <p:nvSpPr>
          <p:cNvPr id="13" name="Text 11"/>
          <p:cNvSpPr txBox="1"/>
          <p:nvPr/>
        </p:nvSpPr>
        <p:spPr>
          <a:xfrm>
            <a:off x="640080" y="4526280"/>
            <a:ext cx="3657600" cy="274320"/>
          </a:xfrm>
          <a:prstGeom prst="rect">
            <a:avLst/>
          </a:prstGeom>
          <a:noFill/>
          <a:ln/>
        </p:spPr>
        <p:txBody>
          <a:bodyPr wrap="square" lIns="0" tIns="0" rIns="0" bIns="0" rtlCol="0" anchor="t"/>
          <a:lstStyle/>
          <a:p>
            <a:pPr indent="0" marL="0">
              <a:buNone/>
            </a:pPr>
            <a:r>
              <a:rPr lang="en-US" sz="1100" dirty="0">
                <a:solidFill>
                  <a:srgbClr val="BFD8D2"/>
                </a:solidFill>
                <a:latin typeface="Malgun Gothic" pitchFamily="34" charset="0"/>
                <a:ea typeface="Malgun Gothic" pitchFamily="34" charset="-122"/>
                <a:cs typeface="Malgun Gothic" pitchFamily="34" charset="-120"/>
              </a:rPr>
              <a:t>2026.10.02 발표</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문제와 해결</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흩어진 판매·광고 데이터를 한 번에 계산하고 설명한다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README '무엇을 해결하나요?'</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2 / 20</a:t>
            </a:r>
            <a:endParaRPr lang="en-US" sz="1000" dirty="0"/>
          </a:p>
        </p:txBody>
      </p:sp>
      <p:sp>
        <p:nvSpPr>
          <p:cNvPr id="7" name="Shape 4"/>
          <p:cNvSpPr/>
          <p:nvPr/>
        </p:nvSpPr>
        <p:spPr>
          <a:xfrm>
            <a:off x="457200" y="1828800"/>
            <a:ext cx="3657600" cy="2011680"/>
          </a:xfrm>
          <a:prstGeom prst="roundRect">
            <a:avLst>
              <a:gd name="adj" fmla="val 4545"/>
            </a:avLst>
          </a:prstGeom>
          <a:solidFill>
            <a:srgbClr val="F2F5F4"/>
          </a:solidFill>
          <a:ln w="6350">
            <a:solidFill>
              <a:srgbClr val="F2F5F4"/>
            </a:solidFill>
            <a:prstDash val="solid"/>
          </a:ln>
        </p:spPr>
      </p:sp>
      <p:sp>
        <p:nvSpPr>
          <p:cNvPr id="8" name="Text 5"/>
          <p:cNvSpPr txBox="1"/>
          <p:nvPr/>
        </p:nvSpPr>
        <p:spPr>
          <a:xfrm>
            <a:off x="685800" y="1965960"/>
            <a:ext cx="3200400" cy="320040"/>
          </a:xfrm>
          <a:prstGeom prst="rect">
            <a:avLst/>
          </a:prstGeom>
          <a:noFill/>
          <a:ln/>
        </p:spPr>
        <p:txBody>
          <a:bodyPr wrap="square" lIns="0" tIns="0" rIns="0" bIns="0" rtlCol="0" anchor="t"/>
          <a:lstStyle/>
          <a:p>
            <a:pPr indent="0" marL="0">
              <a:buNone/>
            </a:pPr>
            <a:r>
              <a:rPr lang="en-US" sz="1400" b="1" dirty="0">
                <a:solidFill>
                  <a:srgbClr val="5B6B6B"/>
                </a:solidFill>
                <a:latin typeface="Malgun Gothic" pitchFamily="34" charset="0"/>
                <a:ea typeface="Malgun Gothic" pitchFamily="34" charset="-122"/>
                <a:cs typeface="Malgun Gothic" pitchFamily="34" charset="-120"/>
              </a:rPr>
              <a:t>지금</a:t>
            </a:r>
            <a:endParaRPr lang="en-US" sz="1400" dirty="0"/>
          </a:p>
        </p:txBody>
      </p:sp>
      <p:sp>
        <p:nvSpPr>
          <p:cNvPr id="9" name="Text 6"/>
          <p:cNvSpPr txBox="1"/>
          <p:nvPr/>
        </p:nvSpPr>
        <p:spPr>
          <a:xfrm>
            <a:off x="685800" y="2377440"/>
            <a:ext cx="3200400" cy="1280160"/>
          </a:xfrm>
          <a:prstGeom prst="rect">
            <a:avLst/>
          </a:prstGeom>
          <a:noFill/>
          <a:ln/>
        </p:spPr>
        <p:txBody>
          <a:bodyPr wrap="square" lIns="0" tIns="0" rIns="0" bIns="0" rtlCol="0" anchor="t"/>
          <a:lstStyle/>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플랫폼마다 따로 내려받기</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엑셀로 합치고 ROAS 손계산</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원인은 감으로 판단</a:t>
            </a:r>
            <a:endParaRPr lang="en-US" sz="1500" dirty="0"/>
          </a:p>
        </p:txBody>
      </p:sp>
      <p:sp>
        <p:nvSpPr>
          <p:cNvPr id="10" name="Text 7"/>
          <p:cNvSpPr txBox="1"/>
          <p:nvPr/>
        </p:nvSpPr>
        <p:spPr>
          <a:xfrm>
            <a:off x="4160520" y="2606040"/>
            <a:ext cx="82296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1" name="Shape 8"/>
          <p:cNvSpPr/>
          <p:nvPr/>
        </p:nvSpPr>
        <p:spPr>
          <a:xfrm>
            <a:off x="5029200" y="1828800"/>
            <a:ext cx="3657600" cy="2011680"/>
          </a:xfrm>
          <a:prstGeom prst="roundRect">
            <a:avLst>
              <a:gd name="adj" fmla="val 4545"/>
            </a:avLst>
          </a:prstGeom>
          <a:solidFill>
            <a:srgbClr val="E6F2EF"/>
          </a:solidFill>
          <a:ln w="6350">
            <a:solidFill>
              <a:srgbClr val="E6F2EF"/>
            </a:solidFill>
            <a:prstDash val="solid"/>
          </a:ln>
        </p:spPr>
      </p:sp>
      <p:sp>
        <p:nvSpPr>
          <p:cNvPr id="12" name="Text 9"/>
          <p:cNvSpPr txBox="1"/>
          <p:nvPr/>
        </p:nvSpPr>
        <p:spPr>
          <a:xfrm>
            <a:off x="5257800" y="1965960"/>
            <a:ext cx="3200400" cy="32004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Seller Insight AI</a:t>
            </a:r>
            <a:endParaRPr lang="en-US" sz="1400" dirty="0"/>
          </a:p>
        </p:txBody>
      </p:sp>
      <p:sp>
        <p:nvSpPr>
          <p:cNvPr id="13" name="Text 10"/>
          <p:cNvSpPr txBox="1"/>
          <p:nvPr/>
        </p:nvSpPr>
        <p:spPr>
          <a:xfrm>
            <a:off x="5257800" y="2377440"/>
            <a:ext cx="3200400" cy="1280160"/>
          </a:xfrm>
          <a:prstGeom prst="rect">
            <a:avLst/>
          </a:prstGeom>
          <a:noFill/>
          <a:ln/>
        </p:spPr>
        <p:txBody>
          <a:bodyPr wrap="square" lIns="0" tIns="0" rIns="0" bIns="0" rtlCol="0" anchor="t"/>
          <a:lstStyle/>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여러 파일을 올리면 자동 정리</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KPI·전월 대비·플랫폼 비교</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AI가 근거와 행동을 제안</a:t>
            </a:r>
            <a:endParaRPr lang="en-US" sz="1500" dirty="0"/>
          </a:p>
        </p:txBody>
      </p:sp>
      <p:sp>
        <p:nvSpPr>
          <p:cNvPr id="14" name="Shape 11"/>
          <p:cNvSpPr/>
          <p:nvPr/>
        </p:nvSpPr>
        <p:spPr>
          <a:xfrm>
            <a:off x="457200" y="4023360"/>
            <a:ext cx="8229600" cy="548640"/>
          </a:xfrm>
          <a:prstGeom prst="roundRect">
            <a:avLst>
              <a:gd name="adj" fmla="val 16667"/>
            </a:avLst>
          </a:prstGeom>
          <a:solidFill>
            <a:srgbClr val="0E3B3B"/>
          </a:solidFill>
          <a:ln w="6350">
            <a:solidFill>
              <a:srgbClr val="0E3B3B"/>
            </a:solidFill>
            <a:prstDash val="solid"/>
          </a:ln>
        </p:spPr>
      </p:sp>
      <p:sp>
        <p:nvSpPr>
          <p:cNvPr id="15" name="Text 12"/>
          <p:cNvSpPr txBox="1"/>
          <p:nvPr/>
        </p:nvSpPr>
        <p:spPr>
          <a:xfrm>
            <a:off x="457200" y="4023360"/>
            <a:ext cx="822960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계산은 </a:t>
            </a:r>
            <a:pPr algn="ctr" indent="0" marL="0">
              <a:buNone/>
            </a:pPr>
            <a:r>
              <a:rPr lang="en-US" sz="2200" b="1" dirty="0">
                <a:solidFill>
                  <a:srgbClr val="F5B83D"/>
                </a:solidFill>
                <a:latin typeface="Malgun Gothic" pitchFamily="34" charset="0"/>
                <a:ea typeface="Malgun Gothic" pitchFamily="34" charset="-122"/>
                <a:cs typeface="Malgun Gothic" pitchFamily="34" charset="-120"/>
              </a:rPr>
              <a:t>코드가</a:t>
            </a:r>
            <a:pPr algn="ctr" indent="0" marL="0">
              <a:buNone/>
            </a:pPr>
            <a:r>
              <a:rPr lang="en-US" sz="2200" b="1" dirty="0">
                <a:solidFill>
                  <a:srgbClr val="FFFFFF"/>
                </a:solidFill>
                <a:latin typeface="Malgun Gothic" pitchFamily="34" charset="0"/>
                <a:ea typeface="Malgun Gothic" pitchFamily="34" charset="-122"/>
                <a:cs typeface="Malgun Gothic" pitchFamily="34" charset="-120"/>
              </a:rPr>
              <a:t>, 설명은 </a:t>
            </a:r>
            <a:pPr algn="ctr" indent="0" marL="0">
              <a:buNone/>
            </a:pPr>
            <a:r>
              <a:rPr lang="en-US" sz="2200" b="1" dirty="0">
                <a:solidFill>
                  <a:srgbClr val="F5B83D"/>
                </a:solidFill>
                <a:latin typeface="Malgun Gothic" pitchFamily="34" charset="0"/>
                <a:ea typeface="Malgun Gothic" pitchFamily="34" charset="-122"/>
                <a:cs typeface="Malgun Gothic" pitchFamily="34" charset="-120"/>
              </a:rPr>
              <a:t>AI가</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화면과 사용 흐름</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파일을 올리면 분석 전에 먼저 확인할 수 있다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A.md (FE-01·03, #1, #40)</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3 / 20</a:t>
            </a:r>
            <a:endParaRPr lang="en-US" sz="1000" dirty="0"/>
          </a:p>
        </p:txBody>
      </p:sp>
      <p:sp>
        <p:nvSpPr>
          <p:cNvPr id="9" name="Shape 6"/>
          <p:cNvSpPr/>
          <p:nvPr/>
        </p:nvSpPr>
        <p:spPr>
          <a:xfrm>
            <a:off x="457200" y="1828800"/>
            <a:ext cx="3017520" cy="1234440"/>
          </a:xfrm>
          <a:prstGeom prst="roundRect">
            <a:avLst>
              <a:gd name="adj" fmla="val 7407"/>
            </a:avLst>
          </a:prstGeom>
          <a:solidFill>
            <a:srgbClr val="E6F2EF"/>
          </a:solidFill>
          <a:ln w="6350">
            <a:solidFill>
              <a:srgbClr val="E6F2EF"/>
            </a:solidFill>
            <a:prstDash val="solid"/>
          </a:ln>
        </p:spPr>
      </p:sp>
      <p:sp>
        <p:nvSpPr>
          <p:cNvPr id="10" name="Text 7"/>
          <p:cNvSpPr txBox="1"/>
          <p:nvPr/>
        </p:nvSpPr>
        <p:spPr>
          <a:xfrm>
            <a:off x="640080" y="1938528"/>
            <a:ext cx="2651760" cy="641909"/>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여러 개</a:t>
            </a:r>
            <a:endParaRPr lang="en-US" sz="3600" dirty="0"/>
          </a:p>
        </p:txBody>
      </p:sp>
      <p:sp>
        <p:nvSpPr>
          <p:cNvPr id="11" name="Text 8"/>
          <p:cNvSpPr txBox="1"/>
          <p:nvPr/>
        </p:nvSpPr>
        <p:spPr>
          <a:xfrm>
            <a:off x="640080" y="2594153"/>
            <a:ext cx="2651760" cy="395021"/>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한 번에 올릴 수 있는 파일</a:t>
            </a:r>
            <a:endParaRPr lang="en-US" sz="1200" dirty="0"/>
          </a:p>
        </p:txBody>
      </p:sp>
      <p:sp>
        <p:nvSpPr>
          <p:cNvPr id="12" name="Shape 9"/>
          <p:cNvSpPr/>
          <p:nvPr/>
        </p:nvSpPr>
        <p:spPr>
          <a:xfrm>
            <a:off x="457200" y="3246120"/>
            <a:ext cx="3017520" cy="1234440"/>
          </a:xfrm>
          <a:prstGeom prst="roundRect">
            <a:avLst>
              <a:gd name="adj" fmla="val 7407"/>
            </a:avLst>
          </a:prstGeom>
          <a:solidFill>
            <a:srgbClr val="E6F2EF"/>
          </a:solidFill>
          <a:ln w="6350">
            <a:solidFill>
              <a:srgbClr val="E6F2EF"/>
            </a:solidFill>
            <a:prstDash val="solid"/>
          </a:ln>
        </p:spPr>
      </p:sp>
      <p:sp>
        <p:nvSpPr>
          <p:cNvPr id="13" name="Text 10"/>
          <p:cNvSpPr txBox="1"/>
          <p:nvPr/>
        </p:nvSpPr>
        <p:spPr>
          <a:xfrm>
            <a:off x="640080" y="3355848"/>
            <a:ext cx="2651760" cy="641909"/>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5MB</a:t>
            </a:r>
            <a:endParaRPr lang="en-US" sz="3600" dirty="0"/>
          </a:p>
        </p:txBody>
      </p:sp>
      <p:sp>
        <p:nvSpPr>
          <p:cNvPr id="14" name="Text 11"/>
          <p:cNvSpPr txBox="1"/>
          <p:nvPr/>
        </p:nvSpPr>
        <p:spPr>
          <a:xfrm>
            <a:off x="640080" y="4011473"/>
            <a:ext cx="2651760" cy="395021"/>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파일당 크기 한도 · .xlsx / .csv</a:t>
            </a:r>
            <a:endParaRPr lang="en-US" sz="1200" dirty="0"/>
          </a:p>
        </p:txBody>
      </p:sp>
      <p:sp>
        <p:nvSpPr>
          <p:cNvPr id="15" name="Shape 12"/>
          <p:cNvSpPr/>
          <p:nvPr/>
        </p:nvSpPr>
        <p:spPr>
          <a:xfrm>
            <a:off x="3986784" y="2167128"/>
            <a:ext cx="146304" cy="146304"/>
          </a:xfrm>
          <a:prstGeom prst="ellipse">
            <a:avLst/>
          </a:prstGeom>
          <a:solidFill>
            <a:srgbClr val="1F7A6D"/>
          </a:solidFill>
          <a:ln w="6350">
            <a:solidFill>
              <a:srgbClr val="1F7A6D"/>
            </a:solidFill>
            <a:prstDash val="solid"/>
          </a:ln>
        </p:spPr>
      </p:sp>
      <p:sp>
        <p:nvSpPr>
          <p:cNvPr id="16" name="Text 13"/>
          <p:cNvSpPr txBox="1"/>
          <p:nvPr/>
        </p:nvSpPr>
        <p:spPr>
          <a:xfrm>
            <a:off x="3986784" y="2167128"/>
            <a:ext cx="146304" cy="146304"/>
          </a:xfrm>
          <a:prstGeom prst="rect">
            <a:avLst/>
          </a:prstGeom>
          <a:noFill/>
          <a:ln/>
        </p:spPr>
        <p:txBody>
          <a:bodyPr wrap="square" lIns="0" tIns="0" rIns="0" bIns="0" rtlCol="0" anchor="ctr"/>
          <a:lstStyle/>
          <a:p>
            <a:pPr algn="ctr" indent="0" marL="0">
              <a:buNone/>
            </a:pPr>
            <a:endParaRPr lang="en-US" sz="800" dirty="0"/>
          </a:p>
        </p:txBody>
      </p:sp>
      <p:sp>
        <p:nvSpPr>
          <p:cNvPr id="17" name="Text 14"/>
          <p:cNvSpPr txBox="1"/>
          <p:nvPr/>
        </p:nvSpPr>
        <p:spPr>
          <a:xfrm>
            <a:off x="4297680" y="1828800"/>
            <a:ext cx="4389120" cy="82296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여러 파일을 한 번에 올린다</a:t>
            </a:r>
            <a:endParaRPr lang="en-US" sz="1400" dirty="0"/>
          </a:p>
        </p:txBody>
      </p:sp>
      <p:sp>
        <p:nvSpPr>
          <p:cNvPr id="18" name="Shape 15"/>
          <p:cNvSpPr/>
          <p:nvPr/>
        </p:nvSpPr>
        <p:spPr>
          <a:xfrm>
            <a:off x="3986784" y="3081528"/>
            <a:ext cx="146304" cy="146304"/>
          </a:xfrm>
          <a:prstGeom prst="ellipse">
            <a:avLst/>
          </a:prstGeom>
          <a:solidFill>
            <a:srgbClr val="1F7A6D"/>
          </a:solidFill>
          <a:ln w="6350">
            <a:solidFill>
              <a:srgbClr val="1F7A6D"/>
            </a:solidFill>
            <a:prstDash val="solid"/>
          </a:ln>
        </p:spPr>
      </p:sp>
      <p:sp>
        <p:nvSpPr>
          <p:cNvPr id="19" name="Text 16"/>
          <p:cNvSpPr txBox="1"/>
          <p:nvPr/>
        </p:nvSpPr>
        <p:spPr>
          <a:xfrm>
            <a:off x="3986784" y="3081528"/>
            <a:ext cx="146304" cy="146304"/>
          </a:xfrm>
          <a:prstGeom prst="rect">
            <a:avLst/>
          </a:prstGeom>
          <a:noFill/>
          <a:ln/>
        </p:spPr>
        <p:txBody>
          <a:bodyPr wrap="square" lIns="0" tIns="0" rIns="0" bIns="0" rtlCol="0" anchor="ctr"/>
          <a:lstStyle/>
          <a:p>
            <a:pPr algn="ctr" indent="0" marL="0">
              <a:buNone/>
            </a:pPr>
            <a:endParaRPr lang="en-US" sz="800" dirty="0"/>
          </a:p>
        </p:txBody>
      </p:sp>
      <p:sp>
        <p:nvSpPr>
          <p:cNvPr id="20" name="Text 17"/>
          <p:cNvSpPr txBox="1"/>
          <p:nvPr/>
        </p:nvSpPr>
        <p:spPr>
          <a:xfrm>
            <a:off x="4297680" y="2743200"/>
            <a:ext cx="4389120" cy="82296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분석 전에 파일마다 플랫폼·기간·행 수와</a:t>
            </a:r>
            <a:endParaRPr lang="en-US" sz="1400" dirty="0"/>
          </a:p>
          <a:p>
            <a:pPr indent="0" marL="0">
              <a:buNone/>
            </a:pPr>
            <a:r>
              <a:rPr lang="en-US" sz="1400" dirty="0">
                <a:solidFill>
                  <a:srgbClr val="1B2B2B"/>
                </a:solidFill>
                <a:latin typeface="Malgun Gothic" pitchFamily="34" charset="0"/>
                <a:ea typeface="Malgun Gothic" pitchFamily="34" charset="-122"/>
                <a:cs typeface="Malgun Gothic" pitchFamily="34" charset="-120"/>
              </a:rPr>
              <a:t>미리보기 10행을 보여 준다</a:t>
            </a:r>
            <a:endParaRPr lang="en-US" sz="1400" dirty="0"/>
          </a:p>
        </p:txBody>
      </p:sp>
      <p:sp>
        <p:nvSpPr>
          <p:cNvPr id="21" name="Shape 18"/>
          <p:cNvSpPr/>
          <p:nvPr/>
        </p:nvSpPr>
        <p:spPr>
          <a:xfrm>
            <a:off x="3986784" y="3995928"/>
            <a:ext cx="146304" cy="146304"/>
          </a:xfrm>
          <a:prstGeom prst="ellipse">
            <a:avLst/>
          </a:prstGeom>
          <a:solidFill>
            <a:srgbClr val="1F7A6D"/>
          </a:solidFill>
          <a:ln w="6350">
            <a:solidFill>
              <a:srgbClr val="1F7A6D"/>
            </a:solidFill>
            <a:prstDash val="solid"/>
          </a:ln>
        </p:spPr>
      </p:sp>
      <p:sp>
        <p:nvSpPr>
          <p:cNvPr id="22" name="Text 19"/>
          <p:cNvSpPr txBox="1"/>
          <p:nvPr/>
        </p:nvSpPr>
        <p:spPr>
          <a:xfrm>
            <a:off x="3986784" y="3995928"/>
            <a:ext cx="146304" cy="146304"/>
          </a:xfrm>
          <a:prstGeom prst="rect">
            <a:avLst/>
          </a:prstGeom>
          <a:noFill/>
          <a:ln/>
        </p:spPr>
        <p:txBody>
          <a:bodyPr wrap="square" lIns="0" tIns="0" rIns="0" bIns="0" rtlCol="0" anchor="ctr"/>
          <a:lstStyle/>
          <a:p>
            <a:pPr algn="ctr" indent="0" marL="0">
              <a:buNone/>
            </a:pPr>
            <a:endParaRPr lang="en-US" sz="800" dirty="0"/>
          </a:p>
        </p:txBody>
      </p:sp>
      <p:sp>
        <p:nvSpPr>
          <p:cNvPr id="23" name="Text 20"/>
          <p:cNvSpPr txBox="1"/>
          <p:nvPr/>
        </p:nvSpPr>
        <p:spPr>
          <a:xfrm>
            <a:off x="4297680" y="3657600"/>
            <a:ext cx="4389120" cy="82296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기간 정보가 없는 파일은 월을 직접 입력받는다</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화면과 사용 흐름</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매출과 광고 성과를 플랫폼별로 한눈에 비교한다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10/1 15:30 배포 화면(간단보기·자세히보기) · 샘플 fixture 기준</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4 / 20</a:t>
            </a:r>
            <a:endParaRPr lang="en-US" sz="1000" dirty="0"/>
          </a:p>
        </p:txBody>
      </p:sp>
      <p:sp>
        <p:nvSpPr>
          <p:cNvPr id="9" name="Shape 6"/>
          <p:cNvSpPr/>
          <p:nvPr/>
        </p:nvSpPr>
        <p:spPr>
          <a:xfrm>
            <a:off x="457200" y="1828800"/>
            <a:ext cx="4754880" cy="777240"/>
          </a:xfrm>
          <a:prstGeom prst="roundRect">
            <a:avLst>
              <a:gd name="adj" fmla="val 11765"/>
            </a:avLst>
          </a:prstGeom>
          <a:solidFill>
            <a:srgbClr val="0E3B3B"/>
          </a:solidFill>
          <a:ln w="6350">
            <a:solidFill>
              <a:srgbClr val="0E3B3B"/>
            </a:solidFill>
            <a:prstDash val="solid"/>
          </a:ln>
        </p:spPr>
      </p:sp>
      <p:sp>
        <p:nvSpPr>
          <p:cNvPr id="10" name="Text 7"/>
          <p:cNvSpPr txBox="1"/>
          <p:nvPr/>
        </p:nvSpPr>
        <p:spPr>
          <a:xfrm>
            <a:off x="640080" y="1874520"/>
            <a:ext cx="1828800" cy="274320"/>
          </a:xfrm>
          <a:prstGeom prst="rect">
            <a:avLst/>
          </a:prstGeom>
          <a:noFill/>
          <a:ln/>
        </p:spPr>
        <p:txBody>
          <a:bodyPr wrap="square" lIns="0" tIns="0" rIns="0" bIns="0" rtlCol="0" anchor="t"/>
          <a:lstStyle/>
          <a:p>
            <a:pPr indent="0" marL="0">
              <a:buNone/>
            </a:pPr>
            <a:r>
              <a:rPr lang="en-US" sz="1100" dirty="0">
                <a:solidFill>
                  <a:srgbClr val="BFD8D2"/>
                </a:solidFill>
                <a:latin typeface="Malgun Gothic" pitchFamily="34" charset="0"/>
                <a:ea typeface="Malgun Gothic" pitchFamily="34" charset="-122"/>
                <a:cs typeface="Malgun Gothic" pitchFamily="34" charset="-120"/>
              </a:rPr>
              <a:t>전체 요약  2026-09</a:t>
            </a:r>
            <a:endParaRPr lang="en-US" sz="1100" dirty="0"/>
          </a:p>
        </p:txBody>
      </p:sp>
      <p:sp>
        <p:nvSpPr>
          <p:cNvPr id="11" name="Text 8"/>
          <p:cNvSpPr txBox="1"/>
          <p:nvPr/>
        </p:nvSpPr>
        <p:spPr>
          <a:xfrm>
            <a:off x="640080" y="2148840"/>
            <a:ext cx="2194560" cy="365760"/>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매출액 12,600,000원</a:t>
            </a:r>
            <a:endParaRPr lang="en-US" sz="1400" dirty="0"/>
          </a:p>
        </p:txBody>
      </p:sp>
      <p:sp>
        <p:nvSpPr>
          <p:cNvPr id="12" name="Text 9"/>
          <p:cNvSpPr txBox="1"/>
          <p:nvPr/>
        </p:nvSpPr>
        <p:spPr>
          <a:xfrm>
            <a:off x="2926080" y="2148840"/>
            <a:ext cx="2194560" cy="365760"/>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광고비 1,920,000원</a:t>
            </a:r>
            <a:endParaRPr lang="en-US" sz="1400" dirty="0"/>
          </a:p>
        </p:txBody>
      </p:sp>
      <p:sp>
        <p:nvSpPr>
          <p:cNvPr id="13" name="Shape 10"/>
          <p:cNvSpPr/>
          <p:nvPr/>
        </p:nvSpPr>
        <p:spPr>
          <a:xfrm>
            <a:off x="457200" y="2743200"/>
            <a:ext cx="2286000" cy="1737360"/>
          </a:xfrm>
          <a:prstGeom prst="roundRect">
            <a:avLst>
              <a:gd name="adj" fmla="val 5263"/>
            </a:avLst>
          </a:prstGeom>
          <a:solidFill>
            <a:srgbClr val="E6F2EF"/>
          </a:solidFill>
          <a:ln w="6350">
            <a:solidFill>
              <a:srgbClr val="E6F2EF"/>
            </a:solidFill>
            <a:prstDash val="solid"/>
          </a:ln>
        </p:spPr>
      </p:sp>
      <p:sp>
        <p:nvSpPr>
          <p:cNvPr id="14" name="Text 11"/>
          <p:cNvSpPr txBox="1"/>
          <p:nvPr/>
        </p:nvSpPr>
        <p:spPr>
          <a:xfrm>
            <a:off x="594360" y="2816352"/>
            <a:ext cx="2011680" cy="32004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쿠팡</a:t>
            </a:r>
            <a:endParaRPr lang="en-US" sz="1400" dirty="0"/>
          </a:p>
        </p:txBody>
      </p:sp>
      <p:sp>
        <p:nvSpPr>
          <p:cNvPr id="15" name="Text 12"/>
          <p:cNvSpPr txBox="1"/>
          <p:nvPr/>
        </p:nvSpPr>
        <p:spPr>
          <a:xfrm>
            <a:off x="594360" y="3154680"/>
            <a:ext cx="2057400" cy="914400"/>
          </a:xfrm>
          <a:prstGeom prst="rect">
            <a:avLst/>
          </a:prstGeom>
          <a:noFill/>
          <a:ln/>
        </p:spPr>
        <p:txBody>
          <a:bodyPr wrap="square" lIns="0" tIns="0" rIns="0" bIns="0" rtlCol="0" anchor="t"/>
          <a:lstStyle/>
          <a:p>
            <a:pPr indent="0" marL="0">
              <a:buNone/>
            </a:pPr>
            <a:r>
              <a:rPr lang="en-US" sz="1050" dirty="0">
                <a:solidFill>
                  <a:srgbClr val="1B2B2B"/>
                </a:solidFill>
                <a:latin typeface="Malgun Gothic" pitchFamily="34" charset="0"/>
                <a:ea typeface="Malgun Gothic" pitchFamily="34" charset="-122"/>
                <a:cs typeface="Malgun Gothic" pitchFamily="34" charset="-120"/>
              </a:rPr>
              <a:t>매출액 8,000,000원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+21.2%
</a:t>
            </a:r>
            <a:pPr indent="0" marL="0">
              <a:buNone/>
            </a:pPr>
            <a:r>
              <a:rPr lang="en-US" sz="1050" dirty="0">
                <a:solidFill>
                  <a:srgbClr val="1B2B2B"/>
                </a:solidFill>
                <a:latin typeface="Malgun Gothic" pitchFamily="34" charset="0"/>
                <a:ea typeface="Malgun Gothic" pitchFamily="34" charset="-122"/>
                <a:cs typeface="Malgun Gothic" pitchFamily="34" charset="-120"/>
              </a:rPr>
              <a:t>광고비 1,200,000원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+33.3%</a:t>
            </a:r>
            <a:endParaRPr lang="en-US" sz="1050" dirty="0"/>
          </a:p>
        </p:txBody>
      </p:sp>
      <p:sp>
        <p:nvSpPr>
          <p:cNvPr id="16" name="Text 13"/>
          <p:cNvSpPr txBox="1"/>
          <p:nvPr/>
        </p:nvSpPr>
        <p:spPr>
          <a:xfrm>
            <a:off x="594360" y="4096512"/>
            <a:ext cx="205740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ROAS 291.7%</a:t>
            </a:r>
            <a:pPr indent="0" marL="0">
              <a:buNone/>
            </a:pPr>
            <a:r>
              <a:rPr lang="en-US" sz="1100" b="1" dirty="0">
                <a:solidFill>
                  <a:srgbClr val="B3261E"/>
                </a:solidFill>
                <a:latin typeface="Malgun Gothic" pitchFamily="34" charset="0"/>
                <a:ea typeface="Malgun Gothic" pitchFamily="34" charset="-122"/>
                <a:cs typeface="Malgun Gothic" pitchFamily="34" charset="-120"/>
              </a:rPr>
              <a:t>  −19.4%p</a:t>
            </a:r>
            <a:endParaRPr lang="en-US" sz="1300" dirty="0"/>
          </a:p>
        </p:txBody>
      </p:sp>
      <p:sp>
        <p:nvSpPr>
          <p:cNvPr id="17" name="Shape 14"/>
          <p:cNvSpPr/>
          <p:nvPr/>
        </p:nvSpPr>
        <p:spPr>
          <a:xfrm>
            <a:off x="2926080" y="2743200"/>
            <a:ext cx="2286000" cy="1737360"/>
          </a:xfrm>
          <a:prstGeom prst="roundRect">
            <a:avLst>
              <a:gd name="adj" fmla="val 5263"/>
            </a:avLst>
          </a:prstGeom>
          <a:solidFill>
            <a:srgbClr val="E6F2EF"/>
          </a:solidFill>
          <a:ln w="6350">
            <a:solidFill>
              <a:srgbClr val="E6F2EF"/>
            </a:solidFill>
            <a:prstDash val="solid"/>
          </a:ln>
        </p:spPr>
      </p:sp>
      <p:sp>
        <p:nvSpPr>
          <p:cNvPr id="18" name="Text 15"/>
          <p:cNvSpPr txBox="1"/>
          <p:nvPr/>
        </p:nvSpPr>
        <p:spPr>
          <a:xfrm>
            <a:off x="3063240" y="2816352"/>
            <a:ext cx="2011680" cy="32004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네이버</a:t>
            </a:r>
            <a:endParaRPr lang="en-US" sz="1400" dirty="0"/>
          </a:p>
        </p:txBody>
      </p:sp>
      <p:sp>
        <p:nvSpPr>
          <p:cNvPr id="19" name="Text 16"/>
          <p:cNvSpPr txBox="1"/>
          <p:nvPr/>
        </p:nvSpPr>
        <p:spPr>
          <a:xfrm>
            <a:off x="3063240" y="3154680"/>
            <a:ext cx="2057400" cy="914400"/>
          </a:xfrm>
          <a:prstGeom prst="rect">
            <a:avLst/>
          </a:prstGeom>
          <a:noFill/>
          <a:ln/>
        </p:spPr>
        <p:txBody>
          <a:bodyPr wrap="square" lIns="0" tIns="0" rIns="0" bIns="0" rtlCol="0" anchor="t"/>
          <a:lstStyle/>
          <a:p>
            <a:pPr indent="0" marL="0">
              <a:buNone/>
            </a:pPr>
            <a:r>
              <a:rPr lang="en-US" sz="1050" dirty="0">
                <a:solidFill>
                  <a:srgbClr val="1B2B2B"/>
                </a:solidFill>
                <a:latin typeface="Malgun Gothic" pitchFamily="34" charset="0"/>
                <a:ea typeface="Malgun Gothic" pitchFamily="34" charset="-122"/>
                <a:cs typeface="Malgun Gothic" pitchFamily="34" charset="-120"/>
              </a:rPr>
              <a:t>매출액 4,600,000원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+21.1%
</a:t>
            </a:r>
            <a:pPr indent="0" marL="0">
              <a:buNone/>
            </a:pPr>
            <a:r>
              <a:rPr lang="en-US" sz="1050" dirty="0">
                <a:solidFill>
                  <a:srgbClr val="1B2B2B"/>
                </a:solidFill>
                <a:latin typeface="Malgun Gothic" pitchFamily="34" charset="0"/>
                <a:ea typeface="Malgun Gothic" pitchFamily="34" charset="-122"/>
                <a:cs typeface="Malgun Gothic" pitchFamily="34" charset="-120"/>
              </a:rPr>
              <a:t>광고비 720,000원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+20.0%</a:t>
            </a:r>
            <a:endParaRPr lang="en-US" sz="1050" dirty="0"/>
          </a:p>
        </p:txBody>
      </p:sp>
      <p:sp>
        <p:nvSpPr>
          <p:cNvPr id="20" name="Text 17"/>
          <p:cNvSpPr txBox="1"/>
          <p:nvPr/>
        </p:nvSpPr>
        <p:spPr>
          <a:xfrm>
            <a:off x="3063240" y="4096512"/>
            <a:ext cx="205740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ROAS 347.2%</a:t>
            </a:r>
            <a:pPr indent="0" marL="0">
              <a:buNone/>
            </a:pPr>
            <a:r>
              <a:rPr lang="en-US" sz="1100" b="1" dirty="0">
                <a:solidFill>
                  <a:srgbClr val="B3261E"/>
                </a:solidFill>
                <a:latin typeface="Malgun Gothic" pitchFamily="34" charset="0"/>
                <a:ea typeface="Malgun Gothic" pitchFamily="34" charset="-122"/>
                <a:cs typeface="Malgun Gothic" pitchFamily="34" charset="-120"/>
              </a:rPr>
              <a:t>  −2.8%p</a:t>
            </a:r>
            <a:endParaRPr lang="en-US" sz="1300" dirty="0"/>
          </a:p>
        </p:txBody>
      </p:sp>
      <p:sp>
        <p:nvSpPr>
          <p:cNvPr id="21" name="Shape 18"/>
          <p:cNvSpPr/>
          <p:nvPr/>
        </p:nvSpPr>
        <p:spPr>
          <a:xfrm>
            <a:off x="5632704" y="2167128"/>
            <a:ext cx="146304" cy="146304"/>
          </a:xfrm>
          <a:prstGeom prst="ellipse">
            <a:avLst/>
          </a:prstGeom>
          <a:solidFill>
            <a:srgbClr val="1F7A6D"/>
          </a:solidFill>
          <a:ln w="6350">
            <a:solidFill>
              <a:srgbClr val="1F7A6D"/>
            </a:solidFill>
            <a:prstDash val="solid"/>
          </a:ln>
        </p:spPr>
      </p:sp>
      <p:sp>
        <p:nvSpPr>
          <p:cNvPr id="22" name="Text 19"/>
          <p:cNvSpPr txBox="1"/>
          <p:nvPr/>
        </p:nvSpPr>
        <p:spPr>
          <a:xfrm>
            <a:off x="5632704" y="2167128"/>
            <a:ext cx="146304" cy="146304"/>
          </a:xfrm>
          <a:prstGeom prst="rect">
            <a:avLst/>
          </a:prstGeom>
          <a:noFill/>
          <a:ln/>
        </p:spPr>
        <p:txBody>
          <a:bodyPr wrap="square" lIns="0" tIns="0" rIns="0" bIns="0" rtlCol="0" anchor="ctr"/>
          <a:lstStyle/>
          <a:p>
            <a:pPr algn="ctr" indent="0" marL="0">
              <a:buNone/>
            </a:pPr>
            <a:endParaRPr lang="en-US" sz="800" dirty="0"/>
          </a:p>
        </p:txBody>
      </p:sp>
      <p:sp>
        <p:nvSpPr>
          <p:cNvPr id="23" name="Text 20"/>
          <p:cNvSpPr txBox="1"/>
          <p:nvPr/>
        </p:nvSpPr>
        <p:spPr>
          <a:xfrm>
            <a:off x="5943600" y="1828800"/>
            <a:ext cx="2743200" cy="82296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간단보기 · 자세히보기 토글</a:t>
            </a:r>
            <a:endParaRPr lang="en-US" sz="1200" dirty="0"/>
          </a:p>
          <a:p>
            <a:pPr indent="0" marL="0">
              <a:buNone/>
            </a:pPr>
            <a:r>
              <a:rPr lang="en-US" sz="1200" dirty="0">
                <a:solidFill>
                  <a:srgbClr val="1B2B2B"/>
                </a:solidFill>
                <a:latin typeface="Malgun Gothic" pitchFamily="34" charset="0"/>
                <a:ea typeface="Malgun Gothic" pitchFamily="34" charset="-122"/>
                <a:cs typeface="Malgun Gothic" pitchFamily="34" charset="-120"/>
              </a:rPr>
              <a:t>(자세히보기: 주문·판매량·광고매출 표)</a:t>
            </a:r>
            <a:endParaRPr lang="en-US" sz="1200" dirty="0"/>
          </a:p>
        </p:txBody>
      </p:sp>
      <p:sp>
        <p:nvSpPr>
          <p:cNvPr id="24" name="Shape 21"/>
          <p:cNvSpPr/>
          <p:nvPr/>
        </p:nvSpPr>
        <p:spPr>
          <a:xfrm>
            <a:off x="5632704" y="3081528"/>
            <a:ext cx="146304" cy="146304"/>
          </a:xfrm>
          <a:prstGeom prst="ellipse">
            <a:avLst/>
          </a:prstGeom>
          <a:solidFill>
            <a:srgbClr val="1F7A6D"/>
          </a:solidFill>
          <a:ln w="6350">
            <a:solidFill>
              <a:srgbClr val="1F7A6D"/>
            </a:solidFill>
            <a:prstDash val="solid"/>
          </a:ln>
        </p:spPr>
      </p:sp>
      <p:sp>
        <p:nvSpPr>
          <p:cNvPr id="25" name="Text 22"/>
          <p:cNvSpPr txBox="1"/>
          <p:nvPr/>
        </p:nvSpPr>
        <p:spPr>
          <a:xfrm>
            <a:off x="5632704" y="3081528"/>
            <a:ext cx="146304" cy="146304"/>
          </a:xfrm>
          <a:prstGeom prst="rect">
            <a:avLst/>
          </a:prstGeom>
          <a:noFill/>
          <a:ln/>
        </p:spPr>
        <p:txBody>
          <a:bodyPr wrap="square" lIns="0" tIns="0" rIns="0" bIns="0" rtlCol="0" anchor="ctr"/>
          <a:lstStyle/>
          <a:p>
            <a:pPr algn="ctr" indent="0" marL="0">
              <a:buNone/>
            </a:pPr>
            <a:endParaRPr lang="en-US" sz="800" dirty="0"/>
          </a:p>
        </p:txBody>
      </p:sp>
      <p:sp>
        <p:nvSpPr>
          <p:cNvPr id="26" name="Text 23"/>
          <p:cNvSpPr txBox="1"/>
          <p:nvPr/>
        </p:nvSpPr>
        <p:spPr>
          <a:xfrm>
            <a:off x="5943600" y="2743200"/>
            <a:ext cx="2743200" cy="82296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플랫폼마다 전월 값과</a:t>
            </a:r>
            <a:endParaRPr lang="en-US" sz="1200" dirty="0"/>
          </a:p>
          <a:p>
            <a:pPr indent="0" marL="0">
              <a:buNone/>
            </a:pPr>
            <a:r>
              <a:rPr lang="en-US" sz="1200" dirty="0">
                <a:solidFill>
                  <a:srgbClr val="1B2B2B"/>
                </a:solidFill>
                <a:latin typeface="Malgun Gothic" pitchFamily="34" charset="0"/>
                <a:ea typeface="Malgun Gothic" pitchFamily="34" charset="-122"/>
                <a:cs typeface="Malgun Gothic" pitchFamily="34" charset="-120"/>
              </a:rPr>
              <a:t>전월 대비 변화를 함께 보여 준다</a:t>
            </a:r>
            <a:endParaRPr lang="en-US" sz="1200" dirty="0"/>
          </a:p>
        </p:txBody>
      </p:sp>
      <p:sp>
        <p:nvSpPr>
          <p:cNvPr id="27" name="Shape 24"/>
          <p:cNvSpPr/>
          <p:nvPr/>
        </p:nvSpPr>
        <p:spPr>
          <a:xfrm>
            <a:off x="5632704" y="3995928"/>
            <a:ext cx="146304" cy="146304"/>
          </a:xfrm>
          <a:prstGeom prst="ellipse">
            <a:avLst/>
          </a:prstGeom>
          <a:solidFill>
            <a:srgbClr val="1F7A6D"/>
          </a:solidFill>
          <a:ln w="6350">
            <a:solidFill>
              <a:srgbClr val="1F7A6D"/>
            </a:solidFill>
            <a:prstDash val="solid"/>
          </a:ln>
        </p:spPr>
      </p:sp>
      <p:sp>
        <p:nvSpPr>
          <p:cNvPr id="28" name="Text 25"/>
          <p:cNvSpPr txBox="1"/>
          <p:nvPr/>
        </p:nvSpPr>
        <p:spPr>
          <a:xfrm>
            <a:off x="5632704" y="3995928"/>
            <a:ext cx="146304" cy="146304"/>
          </a:xfrm>
          <a:prstGeom prst="rect">
            <a:avLst/>
          </a:prstGeom>
          <a:noFill/>
          <a:ln/>
        </p:spPr>
        <p:txBody>
          <a:bodyPr wrap="square" lIns="0" tIns="0" rIns="0" bIns="0" rtlCol="0" anchor="ctr"/>
          <a:lstStyle/>
          <a:p>
            <a:pPr algn="ctr" indent="0" marL="0">
              <a:buNone/>
            </a:pPr>
            <a:endParaRPr lang="en-US" sz="800" dirty="0"/>
          </a:p>
        </p:txBody>
      </p:sp>
      <p:sp>
        <p:nvSpPr>
          <p:cNvPr id="29" name="Text 26"/>
          <p:cNvSpPr txBox="1"/>
          <p:nvPr/>
        </p:nvSpPr>
        <p:spPr>
          <a:xfrm>
            <a:off x="5943600" y="3657600"/>
            <a:ext cx="2743200" cy="82296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이상 신호 배지</a:t>
            </a:r>
            <a:endParaRPr lang="en-US" sz="1200" dirty="0"/>
          </a:p>
          <a:p>
            <a:pPr indent="0" marL="0">
              <a:buNone/>
            </a:pPr>
            <a:r>
              <a:rPr lang="en-US" sz="1200" dirty="0">
                <a:solidFill>
                  <a:srgbClr val="1B2B2B"/>
                </a:solidFill>
                <a:latin typeface="Malgun Gothic" pitchFamily="34" charset="0"/>
                <a:ea typeface="Malgun Gothic" pitchFamily="34" charset="-122"/>
                <a:cs typeface="Malgun Gothic" pitchFamily="34" charset="-120"/>
              </a:rPr>
              <a:t>(광고비 +28.0% · ROAS −14.2%p)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화면과 사용 흐름</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AI에게 물어보고, AI가 실패해도 숫자는 남는다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A.md (FE-05·06) · 모바일은 배포 화면 375px 에뮬레이션 확인 (#45)</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5 / 20</a:t>
            </a:r>
            <a:endParaRPr lang="en-US" sz="1000" dirty="0"/>
          </a:p>
        </p:txBody>
      </p:sp>
      <p:sp>
        <p:nvSpPr>
          <p:cNvPr id="9" name="Shape 6"/>
          <p:cNvSpPr/>
          <p:nvPr/>
        </p:nvSpPr>
        <p:spPr>
          <a:xfrm>
            <a:off x="457200" y="1828800"/>
            <a:ext cx="8229600" cy="548640"/>
          </a:xfrm>
          <a:prstGeom prst="roundRect">
            <a:avLst>
              <a:gd name="adj" fmla="val 16667"/>
            </a:avLst>
          </a:prstGeom>
          <a:solidFill>
            <a:srgbClr val="E6F2EF"/>
          </a:solidFill>
          <a:ln w="6350">
            <a:solidFill>
              <a:srgbClr val="E6F2EF"/>
            </a:solidFill>
            <a:prstDash val="solid"/>
          </a:ln>
        </p:spPr>
      </p:sp>
      <p:sp>
        <p:nvSpPr>
          <p:cNvPr id="10" name="Text 7"/>
          <p:cNvSpPr txBox="1"/>
          <p:nvPr/>
        </p:nvSpPr>
        <p:spPr>
          <a:xfrm>
            <a:off x="685800" y="1828800"/>
            <a:ext cx="5486400" cy="548640"/>
          </a:xfrm>
          <a:prstGeom prst="rect">
            <a:avLst/>
          </a:prstGeom>
          <a:noFill/>
          <a:ln/>
        </p:spPr>
        <p:txBody>
          <a:bodyPr wrap="square" lIns="0" tIns="0" rIns="0" bIns="0" rtlCol="0" anchor="ctr"/>
          <a:lstStyle/>
          <a:p>
            <a:pPr indent="0" marL="0">
              <a:buNone/>
            </a:pPr>
            <a:r>
              <a:rPr lang="en-US" sz="1600" dirty="0">
                <a:solidFill>
                  <a:srgbClr val="0E3B3B"/>
                </a:solidFill>
                <a:latin typeface="Malgun Gothic" pitchFamily="34" charset="0"/>
                <a:ea typeface="Malgun Gothic" pitchFamily="34" charset="-122"/>
                <a:cs typeface="Malgun Gothic" pitchFamily="34" charset="-120"/>
              </a:rPr>
              <a:t>광고 효율이 가장 안 좋은 플랫폼 어디야?</a:t>
            </a:r>
            <a:endParaRPr lang="en-US" sz="1600" dirty="0"/>
          </a:p>
        </p:txBody>
      </p:sp>
      <p:sp>
        <p:nvSpPr>
          <p:cNvPr id="11" name="Text 8"/>
          <p:cNvSpPr txBox="1"/>
          <p:nvPr/>
        </p:nvSpPr>
        <p:spPr>
          <a:xfrm>
            <a:off x="6035040" y="1828800"/>
            <a:ext cx="2468880" cy="548640"/>
          </a:xfrm>
          <a:prstGeom prst="rect">
            <a:avLst/>
          </a:prstGeom>
          <a:noFill/>
          <a:ln/>
        </p:spPr>
        <p:txBody>
          <a:bodyPr wrap="square" lIns="0" tIns="0" rIns="0" bIns="0" rtlCol="0" anchor="ctr"/>
          <a:lstStyle/>
          <a:p>
            <a:pPr algn="r" indent="0" marL="0">
              <a:buNone/>
            </a:pPr>
            <a:r>
              <a:rPr lang="en-US" sz="1100" dirty="0">
                <a:solidFill>
                  <a:srgbClr val="5B6B6B"/>
                </a:solidFill>
                <a:latin typeface="Malgun Gothic" pitchFamily="34" charset="0"/>
                <a:ea typeface="Malgun Gothic" pitchFamily="34" charset="-122"/>
                <a:cs typeface="Malgun Gothic" pitchFamily="34" charset="-120"/>
              </a:rPr>
              <a:t>300자까지 · 예시 질문 버튼</a:t>
            </a:r>
            <a:endParaRPr lang="en-US" sz="1100" dirty="0"/>
          </a:p>
        </p:txBody>
      </p:sp>
      <p:sp>
        <p:nvSpPr>
          <p:cNvPr id="12" name="Shape 9"/>
          <p:cNvSpPr/>
          <p:nvPr/>
        </p:nvSpPr>
        <p:spPr>
          <a:xfrm>
            <a:off x="457200" y="2606040"/>
            <a:ext cx="1554480" cy="1005840"/>
          </a:xfrm>
          <a:prstGeom prst="roundRect">
            <a:avLst>
              <a:gd name="adj" fmla="val 9091"/>
            </a:avLst>
          </a:prstGeom>
          <a:solidFill>
            <a:srgbClr val="F2F5F4"/>
          </a:solidFill>
          <a:ln w="6350">
            <a:solidFill>
              <a:srgbClr val="F2F5F4"/>
            </a:solidFill>
            <a:prstDash val="solid"/>
          </a:ln>
        </p:spPr>
      </p:sp>
      <p:sp>
        <p:nvSpPr>
          <p:cNvPr id="13" name="Text 10"/>
          <p:cNvSpPr txBox="1"/>
          <p:nvPr/>
        </p:nvSpPr>
        <p:spPr>
          <a:xfrm>
            <a:off x="56692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요약</a:t>
            </a:r>
            <a:endParaRPr lang="en-US" sz="1400" dirty="0"/>
          </a:p>
        </p:txBody>
      </p:sp>
      <p:sp>
        <p:nvSpPr>
          <p:cNvPr id="14" name="Text 11"/>
          <p:cNvSpPr txBox="1"/>
          <p:nvPr/>
        </p:nvSpPr>
        <p:spPr>
          <a:xfrm>
            <a:off x="56692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한눈에</a:t>
            </a:r>
            <a:endParaRPr lang="en-US" sz="1100" dirty="0"/>
          </a:p>
        </p:txBody>
      </p:sp>
      <p:sp>
        <p:nvSpPr>
          <p:cNvPr id="15" name="Shape 12"/>
          <p:cNvSpPr/>
          <p:nvPr/>
        </p:nvSpPr>
        <p:spPr>
          <a:xfrm>
            <a:off x="2125980" y="2606040"/>
            <a:ext cx="1554480" cy="1005840"/>
          </a:xfrm>
          <a:prstGeom prst="roundRect">
            <a:avLst>
              <a:gd name="adj" fmla="val 9091"/>
            </a:avLst>
          </a:prstGeom>
          <a:solidFill>
            <a:srgbClr val="F2F5F4"/>
          </a:solidFill>
          <a:ln w="6350">
            <a:solidFill>
              <a:srgbClr val="F2F5F4"/>
            </a:solidFill>
            <a:prstDash val="solid"/>
          </a:ln>
        </p:spPr>
      </p:sp>
      <p:sp>
        <p:nvSpPr>
          <p:cNvPr id="16" name="Text 13"/>
          <p:cNvSpPr txBox="1"/>
          <p:nvPr/>
        </p:nvSpPr>
        <p:spPr>
          <a:xfrm>
            <a:off x="223570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근거</a:t>
            </a:r>
            <a:endParaRPr lang="en-US" sz="1400" dirty="0"/>
          </a:p>
        </p:txBody>
      </p:sp>
      <p:sp>
        <p:nvSpPr>
          <p:cNvPr id="17" name="Text 14"/>
          <p:cNvSpPr txBox="1"/>
          <p:nvPr/>
        </p:nvSpPr>
        <p:spPr>
          <a:xfrm>
            <a:off x="223570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계산된 숫자</a:t>
            </a:r>
            <a:endParaRPr lang="en-US" sz="1100" dirty="0"/>
          </a:p>
        </p:txBody>
      </p:sp>
      <p:sp>
        <p:nvSpPr>
          <p:cNvPr id="18" name="Shape 15"/>
          <p:cNvSpPr/>
          <p:nvPr/>
        </p:nvSpPr>
        <p:spPr>
          <a:xfrm>
            <a:off x="3794760" y="2606040"/>
            <a:ext cx="1554480" cy="1005840"/>
          </a:xfrm>
          <a:prstGeom prst="roundRect">
            <a:avLst>
              <a:gd name="adj" fmla="val 9091"/>
            </a:avLst>
          </a:prstGeom>
          <a:solidFill>
            <a:srgbClr val="F2F5F4"/>
          </a:solidFill>
          <a:ln w="6350">
            <a:solidFill>
              <a:srgbClr val="F2F5F4"/>
            </a:solidFill>
            <a:prstDash val="solid"/>
          </a:ln>
        </p:spPr>
      </p:sp>
      <p:sp>
        <p:nvSpPr>
          <p:cNvPr id="19" name="Text 16"/>
          <p:cNvSpPr txBox="1"/>
          <p:nvPr/>
        </p:nvSpPr>
        <p:spPr>
          <a:xfrm>
            <a:off x="390448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확인 항목</a:t>
            </a:r>
            <a:endParaRPr lang="en-US" sz="1400" dirty="0"/>
          </a:p>
        </p:txBody>
      </p:sp>
      <p:sp>
        <p:nvSpPr>
          <p:cNvPr id="20" name="Text 17"/>
          <p:cNvSpPr txBox="1"/>
          <p:nvPr/>
        </p:nvSpPr>
        <p:spPr>
          <a:xfrm>
            <a:off x="390448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더 살펴볼 것</a:t>
            </a:r>
            <a:endParaRPr lang="en-US" sz="1100" dirty="0"/>
          </a:p>
        </p:txBody>
      </p:sp>
      <p:sp>
        <p:nvSpPr>
          <p:cNvPr id="21" name="Shape 18"/>
          <p:cNvSpPr/>
          <p:nvPr/>
        </p:nvSpPr>
        <p:spPr>
          <a:xfrm>
            <a:off x="5463540" y="2606040"/>
            <a:ext cx="1554480" cy="1005840"/>
          </a:xfrm>
          <a:prstGeom prst="roundRect">
            <a:avLst>
              <a:gd name="adj" fmla="val 9091"/>
            </a:avLst>
          </a:prstGeom>
          <a:solidFill>
            <a:srgbClr val="F2F5F4"/>
          </a:solidFill>
          <a:ln w="6350">
            <a:solidFill>
              <a:srgbClr val="F2F5F4"/>
            </a:solidFill>
            <a:prstDash val="solid"/>
          </a:ln>
        </p:spPr>
      </p:sp>
      <p:sp>
        <p:nvSpPr>
          <p:cNvPr id="22" name="Text 19"/>
          <p:cNvSpPr txBox="1"/>
          <p:nvPr/>
        </p:nvSpPr>
        <p:spPr>
          <a:xfrm>
            <a:off x="557326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행동 제안</a:t>
            </a:r>
            <a:endParaRPr lang="en-US" sz="1400" dirty="0"/>
          </a:p>
        </p:txBody>
      </p:sp>
      <p:sp>
        <p:nvSpPr>
          <p:cNvPr id="23" name="Text 20"/>
          <p:cNvSpPr txBox="1"/>
          <p:nvPr/>
        </p:nvSpPr>
        <p:spPr>
          <a:xfrm>
            <a:off x="557326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다음에 할 일</a:t>
            </a:r>
            <a:endParaRPr lang="en-US" sz="1100" dirty="0"/>
          </a:p>
        </p:txBody>
      </p:sp>
      <p:sp>
        <p:nvSpPr>
          <p:cNvPr id="24" name="Shape 21"/>
          <p:cNvSpPr/>
          <p:nvPr/>
        </p:nvSpPr>
        <p:spPr>
          <a:xfrm>
            <a:off x="7132320" y="2606040"/>
            <a:ext cx="1554480" cy="1005840"/>
          </a:xfrm>
          <a:prstGeom prst="roundRect">
            <a:avLst>
              <a:gd name="adj" fmla="val 9091"/>
            </a:avLst>
          </a:prstGeom>
          <a:solidFill>
            <a:srgbClr val="F2F5F4"/>
          </a:solidFill>
          <a:ln w="6350">
            <a:solidFill>
              <a:srgbClr val="F2F5F4"/>
            </a:solidFill>
            <a:prstDash val="solid"/>
          </a:ln>
        </p:spPr>
      </p:sp>
      <p:sp>
        <p:nvSpPr>
          <p:cNvPr id="25" name="Text 22"/>
          <p:cNvSpPr txBox="1"/>
          <p:nvPr/>
        </p:nvSpPr>
        <p:spPr>
          <a:xfrm>
            <a:off x="724204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한계</a:t>
            </a:r>
            <a:endParaRPr lang="en-US" sz="1400" dirty="0"/>
          </a:p>
        </p:txBody>
      </p:sp>
      <p:sp>
        <p:nvSpPr>
          <p:cNvPr id="26" name="Text 23"/>
          <p:cNvSpPr txBox="1"/>
          <p:nvPr/>
        </p:nvSpPr>
        <p:spPr>
          <a:xfrm>
            <a:off x="724204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알 수 없는 것</a:t>
            </a:r>
            <a:endParaRPr lang="en-US" sz="1100" dirty="0"/>
          </a:p>
        </p:txBody>
      </p:sp>
      <p:sp>
        <p:nvSpPr>
          <p:cNvPr id="27" name="Shape 24"/>
          <p:cNvSpPr/>
          <p:nvPr/>
        </p:nvSpPr>
        <p:spPr>
          <a:xfrm>
            <a:off x="457200" y="3840480"/>
            <a:ext cx="8229600" cy="640080"/>
          </a:xfrm>
          <a:prstGeom prst="roundRect">
            <a:avLst>
              <a:gd name="adj" fmla="val 14286"/>
            </a:avLst>
          </a:prstGeom>
          <a:solidFill>
            <a:srgbClr val="0E3B3B"/>
          </a:solidFill>
          <a:ln w="6350">
            <a:solidFill>
              <a:srgbClr val="0E3B3B"/>
            </a:solidFill>
            <a:prstDash val="solid"/>
          </a:ln>
        </p:spPr>
      </p:sp>
      <p:sp>
        <p:nvSpPr>
          <p:cNvPr id="28" name="Text 25"/>
          <p:cNvSpPr txBox="1"/>
          <p:nvPr/>
        </p:nvSpPr>
        <p:spPr>
          <a:xfrm>
            <a:off x="457200" y="3840480"/>
            <a:ext cx="822960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AI가 실패해도 KPI·차트는 그대로 · 응답 상태 3종 처리</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B</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서버와 배포</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버튼 한 번에 계산과 AI 설명이 함께 돌아온다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계약 README 3장 · B.md</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6 / 20</a:t>
            </a:r>
            <a:endParaRPr lang="en-US" sz="1000" dirty="0"/>
          </a:p>
        </p:txBody>
      </p:sp>
      <p:sp>
        <p:nvSpPr>
          <p:cNvPr id="9" name="Shape 6"/>
          <p:cNvSpPr/>
          <p:nvPr/>
        </p:nvSpPr>
        <p:spPr>
          <a:xfrm>
            <a:off x="457200" y="1828800"/>
            <a:ext cx="1645920" cy="1188720"/>
          </a:xfrm>
          <a:prstGeom prst="roundRect">
            <a:avLst>
              <a:gd name="adj" fmla="val 7692"/>
            </a:avLst>
          </a:prstGeom>
          <a:solidFill>
            <a:srgbClr val="E6F2EF"/>
          </a:solidFill>
          <a:ln w="6350">
            <a:solidFill>
              <a:srgbClr val="E6F2EF"/>
            </a:solidFill>
            <a:prstDash val="solid"/>
          </a:ln>
        </p:spPr>
      </p:sp>
      <p:sp>
        <p:nvSpPr>
          <p:cNvPr id="10" name="Text 7"/>
          <p:cNvSpPr txBox="1"/>
          <p:nvPr/>
        </p:nvSpPr>
        <p:spPr>
          <a:xfrm>
            <a:off x="457200" y="1920240"/>
            <a:ext cx="1645920" cy="411480"/>
          </a:xfrm>
          <a:prstGeom prst="rect">
            <a:avLst/>
          </a:prstGeom>
          <a:noFill/>
          <a:ln/>
        </p:spPr>
        <p:txBody>
          <a:bodyPr wrap="square" lIns="0" tIns="0" rIns="0" bIns="0" rtlCol="0" anchor="t"/>
          <a:lstStyle/>
          <a:p>
            <a:pPr algn="ctr" indent="0" marL="0">
              <a:buNone/>
            </a:pPr>
            <a:r>
              <a:rPr lang="en-US" sz="1600" b="1" dirty="0">
                <a:solidFill>
                  <a:srgbClr val="0E3B3B"/>
                </a:solidFill>
                <a:latin typeface="Malgun Gothic" pitchFamily="34" charset="0"/>
                <a:ea typeface="Malgun Gothic" pitchFamily="34" charset="-122"/>
                <a:cs typeface="Malgun Gothic" pitchFamily="34" charset="-120"/>
              </a:rPr>
              <a:t>화면</a:t>
            </a:r>
            <a:endParaRPr lang="en-US" sz="1600" dirty="0"/>
          </a:p>
        </p:txBody>
      </p:sp>
      <p:sp>
        <p:nvSpPr>
          <p:cNvPr id="11" name="Text 8"/>
          <p:cNvSpPr txBox="1"/>
          <p:nvPr/>
        </p:nvSpPr>
        <p:spPr>
          <a:xfrm>
            <a:off x="457200" y="2377440"/>
            <a:ext cx="1645920" cy="548640"/>
          </a:xfrm>
          <a:prstGeom prst="rect">
            <a:avLst/>
          </a:prstGeom>
          <a:noFill/>
          <a:ln/>
        </p:spPr>
        <p:txBody>
          <a:bodyPr wrap="square" lIns="0" tIns="0" rIns="0" bIns="0" rtlCol="0" anchor="t"/>
          <a:lstStyle/>
          <a:p>
            <a:pPr algn="ctr" indent="0" marL="0">
              <a:buNone/>
            </a:pPr>
            <a:r>
              <a:rPr lang="en-US" sz="1200" dirty="0">
                <a:solidFill>
                  <a:srgbClr val="5B6B6B"/>
                </a:solidFill>
                <a:latin typeface="Malgun Gothic" pitchFamily="34" charset="0"/>
                <a:ea typeface="Malgun Gothic" pitchFamily="34" charset="-122"/>
                <a:cs typeface="Malgun Gothic" pitchFamily="34" charset="-120"/>
              </a:rPr>
              <a:t>Next.js</a:t>
            </a:r>
            <a:endParaRPr lang="en-US" sz="1200" dirty="0"/>
          </a:p>
          <a:p>
            <a:pPr algn="ctr" indent="0" marL="0">
              <a:buNone/>
            </a:pPr>
            <a:r>
              <a:rPr lang="en-US" sz="1200" dirty="0">
                <a:solidFill>
                  <a:srgbClr val="5B6B6B"/>
                </a:solidFill>
                <a:latin typeface="Malgun Gothic" pitchFamily="34" charset="0"/>
                <a:ea typeface="Malgun Gothic" pitchFamily="34" charset="-122"/>
                <a:cs typeface="Malgun Gothic" pitchFamily="34" charset="-120"/>
              </a:rPr>
              <a:t>Vercel</a:t>
            </a:r>
            <a:endParaRPr lang="en-US" sz="1200" dirty="0"/>
          </a:p>
        </p:txBody>
      </p:sp>
      <p:sp>
        <p:nvSpPr>
          <p:cNvPr id="12" name="Text 9"/>
          <p:cNvSpPr txBox="1"/>
          <p:nvPr/>
        </p:nvSpPr>
        <p:spPr>
          <a:xfrm>
            <a:off x="2103120" y="2194560"/>
            <a:ext cx="45720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3" name="Shape 10"/>
          <p:cNvSpPr/>
          <p:nvPr/>
        </p:nvSpPr>
        <p:spPr>
          <a:xfrm>
            <a:off x="2560320" y="1828800"/>
            <a:ext cx="1737360" cy="1188720"/>
          </a:xfrm>
          <a:prstGeom prst="roundRect">
            <a:avLst>
              <a:gd name="adj" fmla="val 7692"/>
            </a:avLst>
          </a:prstGeom>
          <a:solidFill>
            <a:srgbClr val="E6F2EF"/>
          </a:solidFill>
          <a:ln w="6350">
            <a:solidFill>
              <a:srgbClr val="E6F2EF"/>
            </a:solidFill>
            <a:prstDash val="solid"/>
          </a:ln>
        </p:spPr>
      </p:sp>
      <p:sp>
        <p:nvSpPr>
          <p:cNvPr id="14" name="Text 11"/>
          <p:cNvSpPr txBox="1"/>
          <p:nvPr/>
        </p:nvSpPr>
        <p:spPr>
          <a:xfrm>
            <a:off x="2560320" y="1920240"/>
            <a:ext cx="1737360" cy="411480"/>
          </a:xfrm>
          <a:prstGeom prst="rect">
            <a:avLst/>
          </a:prstGeom>
          <a:noFill/>
          <a:ln/>
        </p:spPr>
        <p:txBody>
          <a:bodyPr wrap="square" lIns="0" tIns="0" rIns="0" bIns="0" rtlCol="0" anchor="t"/>
          <a:lstStyle/>
          <a:p>
            <a:pPr algn="ctr" indent="0" marL="0">
              <a:buNone/>
            </a:pPr>
            <a:r>
              <a:rPr lang="en-US" sz="1600" b="1" dirty="0">
                <a:solidFill>
                  <a:srgbClr val="0E3B3B"/>
                </a:solidFill>
                <a:latin typeface="Malgun Gothic" pitchFamily="34" charset="0"/>
                <a:ea typeface="Malgun Gothic" pitchFamily="34" charset="-122"/>
                <a:cs typeface="Malgun Gothic" pitchFamily="34" charset="-120"/>
              </a:rPr>
              <a:t>서버</a:t>
            </a:r>
            <a:endParaRPr lang="en-US" sz="1600" dirty="0"/>
          </a:p>
        </p:txBody>
      </p:sp>
      <p:sp>
        <p:nvSpPr>
          <p:cNvPr id="15" name="Text 12"/>
          <p:cNvSpPr txBox="1"/>
          <p:nvPr/>
        </p:nvSpPr>
        <p:spPr>
          <a:xfrm>
            <a:off x="2560320" y="2377440"/>
            <a:ext cx="1737360" cy="548640"/>
          </a:xfrm>
          <a:prstGeom prst="rect">
            <a:avLst/>
          </a:prstGeom>
          <a:noFill/>
          <a:ln/>
        </p:spPr>
        <p:txBody>
          <a:bodyPr wrap="square" lIns="0" tIns="0" rIns="0" bIns="0" rtlCol="0" anchor="t"/>
          <a:lstStyle/>
          <a:p>
            <a:pPr algn="ctr" indent="0" marL="0">
              <a:buNone/>
            </a:pPr>
            <a:r>
              <a:rPr lang="en-US" sz="1200" dirty="0">
                <a:solidFill>
                  <a:srgbClr val="5B6B6B"/>
                </a:solidFill>
                <a:latin typeface="Malgun Gothic" pitchFamily="34" charset="0"/>
                <a:ea typeface="Malgun Gothic" pitchFamily="34" charset="-122"/>
                <a:cs typeface="Malgun Gothic" pitchFamily="34" charset="-120"/>
              </a:rPr>
              <a:t>FastAPI</a:t>
            </a:r>
            <a:endParaRPr lang="en-US" sz="1200" dirty="0"/>
          </a:p>
          <a:p>
            <a:pPr algn="ctr" indent="0" marL="0">
              <a:buNone/>
            </a:pPr>
            <a:r>
              <a:rPr lang="en-US" sz="1200" dirty="0">
                <a:solidFill>
                  <a:srgbClr val="5B6B6B"/>
                </a:solidFill>
                <a:latin typeface="Malgun Gothic" pitchFamily="34" charset="0"/>
                <a:ea typeface="Malgun Gothic" pitchFamily="34" charset="-122"/>
                <a:cs typeface="Malgun Gothic" pitchFamily="34" charset="-120"/>
              </a:rPr>
              <a:t>Render</a:t>
            </a:r>
            <a:endParaRPr lang="en-US" sz="1200" dirty="0"/>
          </a:p>
        </p:txBody>
      </p:sp>
      <p:sp>
        <p:nvSpPr>
          <p:cNvPr id="16" name="Text 13"/>
          <p:cNvSpPr txBox="1"/>
          <p:nvPr/>
        </p:nvSpPr>
        <p:spPr>
          <a:xfrm>
            <a:off x="4297680" y="2194560"/>
            <a:ext cx="45720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7" name="Shape 14"/>
          <p:cNvSpPr/>
          <p:nvPr/>
        </p:nvSpPr>
        <p:spPr>
          <a:xfrm>
            <a:off x="4754880" y="1828800"/>
            <a:ext cx="1920240" cy="548640"/>
          </a:xfrm>
          <a:prstGeom prst="roundRect">
            <a:avLst>
              <a:gd name="adj" fmla="val 16667"/>
            </a:avLst>
          </a:prstGeom>
          <a:solidFill>
            <a:srgbClr val="1F7A6D"/>
          </a:solidFill>
          <a:ln w="6350">
            <a:solidFill>
              <a:srgbClr val="1F7A6D"/>
            </a:solidFill>
            <a:prstDash val="solid"/>
          </a:ln>
        </p:spPr>
      </p:sp>
      <p:sp>
        <p:nvSpPr>
          <p:cNvPr id="18" name="Text 15"/>
          <p:cNvSpPr txBox="1"/>
          <p:nvPr/>
        </p:nvSpPr>
        <p:spPr>
          <a:xfrm>
            <a:off x="4754880" y="1828800"/>
            <a:ext cx="19202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 계산 · analysis/</a:t>
            </a:r>
            <a:endParaRPr lang="en-US" sz="1200" dirty="0"/>
          </a:p>
        </p:txBody>
      </p:sp>
      <p:sp>
        <p:nvSpPr>
          <p:cNvPr id="19" name="Shape 16"/>
          <p:cNvSpPr/>
          <p:nvPr/>
        </p:nvSpPr>
        <p:spPr>
          <a:xfrm>
            <a:off x="4754880" y="2468880"/>
            <a:ext cx="1920240" cy="548640"/>
          </a:xfrm>
          <a:prstGeom prst="roundRect">
            <a:avLst>
              <a:gd name="adj" fmla="val 16667"/>
            </a:avLst>
          </a:prstGeom>
          <a:solidFill>
            <a:srgbClr val="1F7A6D"/>
          </a:solidFill>
          <a:ln w="6350">
            <a:solidFill>
              <a:srgbClr val="1F7A6D"/>
            </a:solidFill>
            <a:prstDash val="solid"/>
          </a:ln>
        </p:spPr>
      </p:sp>
      <p:sp>
        <p:nvSpPr>
          <p:cNvPr id="20" name="Text 17"/>
          <p:cNvSpPr txBox="1"/>
          <p:nvPr/>
        </p:nvSpPr>
        <p:spPr>
          <a:xfrm>
            <a:off x="4754880" y="2468880"/>
            <a:ext cx="19202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D AI · ai/</a:t>
            </a:r>
            <a:endParaRPr lang="en-US" sz="1200" dirty="0"/>
          </a:p>
        </p:txBody>
      </p:sp>
      <p:sp>
        <p:nvSpPr>
          <p:cNvPr id="21" name="Text 18"/>
          <p:cNvSpPr txBox="1"/>
          <p:nvPr/>
        </p:nvSpPr>
        <p:spPr>
          <a:xfrm>
            <a:off x="6675120" y="2194560"/>
            <a:ext cx="45720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22" name="Shape 19"/>
          <p:cNvSpPr/>
          <p:nvPr/>
        </p:nvSpPr>
        <p:spPr>
          <a:xfrm>
            <a:off x="7132320" y="1828800"/>
            <a:ext cx="1554480" cy="1188720"/>
          </a:xfrm>
          <a:prstGeom prst="roundRect">
            <a:avLst>
              <a:gd name="adj" fmla="val 7692"/>
            </a:avLst>
          </a:prstGeom>
          <a:solidFill>
            <a:srgbClr val="0E3B3B"/>
          </a:solidFill>
          <a:ln w="6350">
            <a:solidFill>
              <a:srgbClr val="0E3B3B"/>
            </a:solidFill>
            <a:prstDash val="solid"/>
          </a:ln>
        </p:spPr>
      </p:sp>
      <p:sp>
        <p:nvSpPr>
          <p:cNvPr id="23" name="Text 20"/>
          <p:cNvSpPr txBox="1"/>
          <p:nvPr/>
        </p:nvSpPr>
        <p:spPr>
          <a:xfrm>
            <a:off x="7132320" y="1828800"/>
            <a:ext cx="1554480" cy="11887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JSON</a:t>
            </a:r>
            <a:endParaRPr lang="en-US" sz="1600" dirty="0"/>
          </a:p>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하나</a:t>
            </a:r>
            <a:endParaRPr lang="en-US" sz="1600" dirty="0"/>
          </a:p>
        </p:txBody>
      </p:sp>
      <p:sp>
        <p:nvSpPr>
          <p:cNvPr id="24" name="Text 21"/>
          <p:cNvSpPr txBox="1"/>
          <p:nvPr/>
        </p:nvSpPr>
        <p:spPr>
          <a:xfrm>
            <a:off x="457200" y="3337560"/>
            <a:ext cx="1828800" cy="320040"/>
          </a:xfrm>
          <a:prstGeom prst="rect">
            <a:avLst/>
          </a:prstGeom>
          <a:noFill/>
          <a:ln/>
        </p:spPr>
        <p:txBody>
          <a:bodyPr wrap="square" lIns="0" tIns="0" rIns="0" bIns="0" rtlCol="0" anchor="t"/>
          <a:lstStyle/>
          <a:p>
            <a:pPr indent="0" marL="0">
              <a:buNone/>
            </a:pPr>
            <a:r>
              <a:rPr lang="en-US" sz="1300" b="1" dirty="0">
                <a:solidFill>
                  <a:srgbClr val="5B6B6B"/>
                </a:solidFill>
                <a:latin typeface="Malgun Gothic" pitchFamily="34" charset="0"/>
                <a:ea typeface="Malgun Gothic" pitchFamily="34" charset="-122"/>
                <a:cs typeface="Malgun Gothic" pitchFamily="34" charset="-120"/>
              </a:rPr>
              <a:t>API 3개</a:t>
            </a:r>
            <a:endParaRPr lang="en-US" sz="1300" dirty="0"/>
          </a:p>
        </p:txBody>
      </p:sp>
      <p:sp>
        <p:nvSpPr>
          <p:cNvPr id="25" name="Shape 22"/>
          <p:cNvSpPr/>
          <p:nvPr/>
        </p:nvSpPr>
        <p:spPr>
          <a:xfrm>
            <a:off x="457200" y="3703320"/>
            <a:ext cx="2606040" cy="457200"/>
          </a:xfrm>
          <a:prstGeom prst="roundRect">
            <a:avLst>
              <a:gd name="adj" fmla="val 20000"/>
            </a:avLst>
          </a:prstGeom>
          <a:solidFill>
            <a:srgbClr val="F2F5F4"/>
          </a:solidFill>
          <a:ln w="6350">
            <a:solidFill>
              <a:srgbClr val="F2F5F4"/>
            </a:solidFill>
            <a:prstDash val="solid"/>
          </a:ln>
        </p:spPr>
      </p:sp>
      <p:sp>
        <p:nvSpPr>
          <p:cNvPr id="26" name="Text 23"/>
          <p:cNvSpPr txBox="1"/>
          <p:nvPr/>
        </p:nvSpPr>
        <p:spPr>
          <a:xfrm>
            <a:off x="457200" y="3703320"/>
            <a:ext cx="2606040" cy="45720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/health</a:t>
            </a:r>
            <a:endParaRPr lang="en-US" sz="1400" dirty="0"/>
          </a:p>
        </p:txBody>
      </p:sp>
      <p:sp>
        <p:nvSpPr>
          <p:cNvPr id="27" name="Shape 24"/>
          <p:cNvSpPr/>
          <p:nvPr/>
        </p:nvSpPr>
        <p:spPr>
          <a:xfrm>
            <a:off x="3246120" y="3703320"/>
            <a:ext cx="2606040" cy="457200"/>
          </a:xfrm>
          <a:prstGeom prst="roundRect">
            <a:avLst>
              <a:gd name="adj" fmla="val 20000"/>
            </a:avLst>
          </a:prstGeom>
          <a:solidFill>
            <a:srgbClr val="F2F5F4"/>
          </a:solidFill>
          <a:ln w="6350">
            <a:solidFill>
              <a:srgbClr val="F2F5F4"/>
            </a:solidFill>
            <a:prstDash val="solid"/>
          </a:ln>
        </p:spPr>
      </p:sp>
      <p:sp>
        <p:nvSpPr>
          <p:cNvPr id="28" name="Text 25"/>
          <p:cNvSpPr txBox="1"/>
          <p:nvPr/>
        </p:nvSpPr>
        <p:spPr>
          <a:xfrm>
            <a:off x="3246120" y="3703320"/>
            <a:ext cx="2606040" cy="45720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/api/preview</a:t>
            </a:r>
            <a:endParaRPr lang="en-US" sz="1400" dirty="0"/>
          </a:p>
        </p:txBody>
      </p:sp>
      <p:sp>
        <p:nvSpPr>
          <p:cNvPr id="29" name="Shape 26"/>
          <p:cNvSpPr/>
          <p:nvPr/>
        </p:nvSpPr>
        <p:spPr>
          <a:xfrm>
            <a:off x="6035040" y="3703320"/>
            <a:ext cx="2606040" cy="457200"/>
          </a:xfrm>
          <a:prstGeom prst="roundRect">
            <a:avLst>
              <a:gd name="adj" fmla="val 20000"/>
            </a:avLst>
          </a:prstGeom>
          <a:solidFill>
            <a:srgbClr val="F2F5F4"/>
          </a:solidFill>
          <a:ln w="6350">
            <a:solidFill>
              <a:srgbClr val="F2F5F4"/>
            </a:solidFill>
            <a:prstDash val="solid"/>
          </a:ln>
        </p:spPr>
      </p:sp>
      <p:sp>
        <p:nvSpPr>
          <p:cNvPr id="30" name="Text 27"/>
          <p:cNvSpPr txBox="1"/>
          <p:nvPr/>
        </p:nvSpPr>
        <p:spPr>
          <a:xfrm>
            <a:off x="6035040" y="3703320"/>
            <a:ext cx="2606040" cy="45720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/api/analyze</a:t>
            </a:r>
            <a:endParaRPr lang="en-US" sz="1400" dirty="0"/>
          </a:p>
        </p:txBody>
      </p:sp>
      <p:sp>
        <p:nvSpPr>
          <p:cNvPr id="31" name="Text 28"/>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응답: kpis · comparison · rows · signals · store · insight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B</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서버와 배포</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입력이 잘못돼도, AI가 실패해도 숫자는 지킨다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계약 README 2장 · B.md (#20, #28)</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7 / 20</a:t>
            </a:r>
            <a:endParaRPr lang="en-US" sz="1000" dirty="0"/>
          </a:p>
        </p:txBody>
      </p:sp>
      <p:sp>
        <p:nvSpPr>
          <p:cNvPr id="9" name="Shape 6"/>
          <p:cNvSpPr/>
          <p:nvPr/>
        </p:nvSpPr>
        <p:spPr>
          <a:xfrm>
            <a:off x="457200" y="1828800"/>
            <a:ext cx="3931920" cy="1371600"/>
          </a:xfrm>
          <a:prstGeom prst="roundRect">
            <a:avLst>
              <a:gd name="adj" fmla="val 6667"/>
            </a:avLst>
          </a:prstGeom>
          <a:solidFill>
            <a:srgbClr val="E6F2EF"/>
          </a:solidFill>
          <a:ln w="6350">
            <a:solidFill>
              <a:srgbClr val="E6F2EF"/>
            </a:solidFill>
            <a:prstDash val="solid"/>
          </a:ln>
        </p:spPr>
      </p:sp>
      <p:sp>
        <p:nvSpPr>
          <p:cNvPr id="10" name="Text 7"/>
          <p:cNvSpPr txBox="1"/>
          <p:nvPr/>
        </p:nvSpPr>
        <p:spPr>
          <a:xfrm>
            <a:off x="640080" y="1938528"/>
            <a:ext cx="3566160" cy="713232"/>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5MB</a:t>
            </a:r>
            <a:endParaRPr lang="en-US" sz="3600" dirty="0"/>
          </a:p>
        </p:txBody>
      </p:sp>
      <p:sp>
        <p:nvSpPr>
          <p:cNvPr id="11" name="Text 8"/>
          <p:cNvSpPr txBox="1"/>
          <p:nvPr/>
        </p:nvSpPr>
        <p:spPr>
          <a:xfrm>
            <a:off x="640080" y="2679192"/>
            <a:ext cx="356616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파일당 크기 한도</a:t>
            </a:r>
            <a:endParaRPr lang="en-US" sz="1200" dirty="0"/>
          </a:p>
        </p:txBody>
      </p:sp>
      <p:sp>
        <p:nvSpPr>
          <p:cNvPr id="12" name="Shape 9"/>
          <p:cNvSpPr/>
          <p:nvPr/>
        </p:nvSpPr>
        <p:spPr>
          <a:xfrm>
            <a:off x="4754880" y="1828800"/>
            <a:ext cx="3931920" cy="1371600"/>
          </a:xfrm>
          <a:prstGeom prst="roundRect">
            <a:avLst>
              <a:gd name="adj" fmla="val 6667"/>
            </a:avLst>
          </a:prstGeom>
          <a:solidFill>
            <a:srgbClr val="E6F2EF"/>
          </a:solidFill>
          <a:ln w="6350">
            <a:solidFill>
              <a:srgbClr val="E6F2EF"/>
            </a:solidFill>
            <a:prstDash val="solid"/>
          </a:ln>
        </p:spPr>
      </p:sp>
      <p:sp>
        <p:nvSpPr>
          <p:cNvPr id="13" name="Text 10"/>
          <p:cNvSpPr txBox="1"/>
          <p:nvPr/>
        </p:nvSpPr>
        <p:spPr>
          <a:xfrm>
            <a:off x="4937760" y="1938528"/>
            <a:ext cx="3566160" cy="713232"/>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17개</a:t>
            </a:r>
            <a:endParaRPr lang="en-US" sz="3600" dirty="0"/>
          </a:p>
        </p:txBody>
      </p:sp>
      <p:sp>
        <p:nvSpPr>
          <p:cNvPr id="14" name="Text 11"/>
          <p:cNvSpPr txBox="1"/>
          <p:nvPr/>
        </p:nvSpPr>
        <p:spPr>
          <a:xfrm>
            <a:off x="4937760" y="2679192"/>
            <a:ext cx="356616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통일된 오류 코드</a:t>
            </a:r>
            <a:endParaRPr lang="en-US" sz="1200" dirty="0"/>
          </a:p>
        </p:txBody>
      </p:sp>
      <p:sp>
        <p:nvSpPr>
          <p:cNvPr id="15" name="Shape 12"/>
          <p:cNvSpPr/>
          <p:nvPr/>
        </p:nvSpPr>
        <p:spPr>
          <a:xfrm>
            <a:off x="457200" y="3525012"/>
            <a:ext cx="310896" cy="310896"/>
          </a:xfrm>
          <a:prstGeom prst="ellipse">
            <a:avLst/>
          </a:prstGeom>
          <a:solidFill>
            <a:srgbClr val="1F7A6D"/>
          </a:solidFill>
          <a:ln w="6350">
            <a:solidFill>
              <a:srgbClr val="1F7A6D"/>
            </a:solidFill>
            <a:prstDash val="solid"/>
          </a:ln>
        </p:spPr>
      </p:sp>
      <p:sp>
        <p:nvSpPr>
          <p:cNvPr id="16" name="Text 13"/>
          <p:cNvSpPr txBox="1"/>
          <p:nvPr/>
        </p:nvSpPr>
        <p:spPr>
          <a:xfrm>
            <a:off x="457200" y="35250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17" name="Text 14"/>
          <p:cNvSpPr txBox="1"/>
          <p:nvPr/>
        </p:nvSpPr>
        <p:spPr>
          <a:xfrm>
            <a:off x="914400" y="3429000"/>
            <a:ext cx="777240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모든 오류를 같은 모양(code · message · details)으로 보낸다</a:t>
            </a:r>
            <a:endParaRPr lang="en-US" sz="1400" dirty="0"/>
          </a:p>
        </p:txBody>
      </p:sp>
      <p:sp>
        <p:nvSpPr>
          <p:cNvPr id="18" name="Shape 15"/>
          <p:cNvSpPr/>
          <p:nvPr/>
        </p:nvSpPr>
        <p:spPr>
          <a:xfrm>
            <a:off x="457200" y="4119372"/>
            <a:ext cx="310896" cy="310896"/>
          </a:xfrm>
          <a:prstGeom prst="ellipse">
            <a:avLst/>
          </a:prstGeom>
          <a:solidFill>
            <a:srgbClr val="1F7A6D"/>
          </a:solidFill>
          <a:ln w="6350">
            <a:solidFill>
              <a:srgbClr val="1F7A6D"/>
            </a:solidFill>
            <a:prstDash val="solid"/>
          </a:ln>
        </p:spPr>
      </p:sp>
      <p:sp>
        <p:nvSpPr>
          <p:cNvPr id="19" name="Text 16"/>
          <p:cNvSpPr txBox="1"/>
          <p:nvPr/>
        </p:nvSpPr>
        <p:spPr>
          <a:xfrm>
            <a:off x="457200" y="41193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20" name="Text 17"/>
          <p:cNvSpPr txBox="1"/>
          <p:nvPr/>
        </p:nvSpPr>
        <p:spPr>
          <a:xfrm>
            <a:off x="914400" y="4023360"/>
            <a:ext cx="777240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AI 단계에서 무슨 일이 생겨도 KPI·차트는 정상으로 나간다</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B</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서버와 배포</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코드가 합쳐지면 배포 요청이 자동으로 나간다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B.md · 배포 워크플로 #19 · 이전 수동 배포 사고 #17</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8 / 20</a:t>
            </a:r>
            <a:endParaRPr lang="en-US" sz="1000" dirty="0"/>
          </a:p>
        </p:txBody>
      </p:sp>
      <p:sp>
        <p:nvSpPr>
          <p:cNvPr id="9" name="Shape 6"/>
          <p:cNvSpPr/>
          <p:nvPr/>
        </p:nvSpPr>
        <p:spPr>
          <a:xfrm>
            <a:off x="457200" y="1828800"/>
            <a:ext cx="3931920" cy="1463040"/>
          </a:xfrm>
          <a:prstGeom prst="roundRect">
            <a:avLst>
              <a:gd name="adj" fmla="val 6250"/>
            </a:avLst>
          </a:prstGeom>
          <a:solidFill>
            <a:srgbClr val="0E3B3B"/>
          </a:solidFill>
          <a:ln w="6350">
            <a:solidFill>
              <a:srgbClr val="0E3B3B"/>
            </a:solidFill>
            <a:prstDash val="solid"/>
          </a:ln>
        </p:spPr>
      </p:sp>
      <p:sp>
        <p:nvSpPr>
          <p:cNvPr id="10" name="Text 7"/>
          <p:cNvSpPr txBox="1"/>
          <p:nvPr/>
        </p:nvSpPr>
        <p:spPr>
          <a:xfrm>
            <a:off x="640080" y="1938528"/>
            <a:ext cx="3566160" cy="760781"/>
          </a:xfrm>
          <a:prstGeom prst="rect">
            <a:avLst/>
          </a:prstGeom>
          <a:noFill/>
          <a:ln/>
        </p:spPr>
        <p:txBody>
          <a:bodyPr wrap="square" lIns="0" tIns="0" rIns="0" bIns="0"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13 / 13</a:t>
            </a:r>
            <a:endParaRPr lang="en-US" sz="4000" dirty="0"/>
          </a:p>
        </p:txBody>
      </p:sp>
      <p:sp>
        <p:nvSpPr>
          <p:cNvPr id="11" name="Text 8"/>
          <p:cNvSpPr txBox="1"/>
          <p:nvPr/>
        </p:nvSpPr>
        <p:spPr>
          <a:xfrm>
            <a:off x="640080" y="2735885"/>
            <a:ext cx="3566160" cy="468173"/>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배포 워크플로 성공 (자동 12 · 수동 1)</a:t>
            </a:r>
            <a:endParaRPr lang="en-US" sz="1200" dirty="0"/>
          </a:p>
        </p:txBody>
      </p:sp>
      <p:sp>
        <p:nvSpPr>
          <p:cNvPr id="12" name="Shape 9"/>
          <p:cNvSpPr/>
          <p:nvPr/>
        </p:nvSpPr>
        <p:spPr>
          <a:xfrm>
            <a:off x="4754880" y="1828800"/>
            <a:ext cx="3931920" cy="1463040"/>
          </a:xfrm>
          <a:prstGeom prst="roundRect">
            <a:avLst>
              <a:gd name="adj" fmla="val 6250"/>
            </a:avLst>
          </a:prstGeom>
          <a:solidFill>
            <a:srgbClr val="E6F2EF"/>
          </a:solidFill>
          <a:ln w="6350">
            <a:solidFill>
              <a:srgbClr val="E6F2EF"/>
            </a:solidFill>
            <a:prstDash val="solid"/>
          </a:ln>
        </p:spPr>
      </p:sp>
      <p:sp>
        <p:nvSpPr>
          <p:cNvPr id="13" name="Text 10"/>
          <p:cNvSpPr txBox="1"/>
          <p:nvPr/>
        </p:nvSpPr>
        <p:spPr>
          <a:xfrm>
            <a:off x="4937760" y="1938528"/>
            <a:ext cx="3566160" cy="760781"/>
          </a:xfrm>
          <a:prstGeom prst="rect">
            <a:avLst/>
          </a:prstGeom>
          <a:noFill/>
          <a:ln/>
        </p:spPr>
        <p:txBody>
          <a:bodyPr wrap="square" lIns="0" tIns="0" rIns="0" bIns="0" rtlCol="0" anchor="ctr"/>
          <a:lstStyle/>
          <a:p>
            <a:pPr indent="0" marL="0">
              <a:buNone/>
            </a:pPr>
            <a:r>
              <a:rPr lang="en-US" sz="4000" b="1" dirty="0">
                <a:solidFill>
                  <a:srgbClr val="0E3B3B"/>
                </a:solidFill>
                <a:latin typeface="Malgun Gothic" pitchFamily="34" charset="0"/>
                <a:ea typeface="Malgun Gothic" pitchFamily="34" charset="-122"/>
                <a:cs typeface="Malgun Gothic" pitchFamily="34" charset="-120"/>
              </a:rPr>
              <a:t>646개</a:t>
            </a:r>
            <a:endParaRPr lang="en-US" sz="4000" dirty="0"/>
          </a:p>
        </p:txBody>
      </p:sp>
      <p:sp>
        <p:nvSpPr>
          <p:cNvPr id="14" name="Text 11"/>
          <p:cNvSpPr txBox="1"/>
          <p:nvPr/>
        </p:nvSpPr>
        <p:spPr>
          <a:xfrm>
            <a:off x="4937760" y="2735885"/>
            <a:ext cx="3566160" cy="468173"/>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백엔드 자동 테스트 통과</a:t>
            </a:r>
            <a:endParaRPr lang="en-US" sz="1200" dirty="0"/>
          </a:p>
        </p:txBody>
      </p:sp>
      <p:sp>
        <p:nvSpPr>
          <p:cNvPr id="15" name="Shape 12"/>
          <p:cNvSpPr/>
          <p:nvPr/>
        </p:nvSpPr>
        <p:spPr>
          <a:xfrm>
            <a:off x="457200" y="3611880"/>
            <a:ext cx="2377440" cy="640080"/>
          </a:xfrm>
          <a:prstGeom prst="roundRect">
            <a:avLst>
              <a:gd name="adj" fmla="val 14286"/>
            </a:avLst>
          </a:prstGeom>
          <a:solidFill>
            <a:srgbClr val="F2F5F4"/>
          </a:solidFill>
          <a:ln w="6350">
            <a:solidFill>
              <a:srgbClr val="F2F5F4"/>
            </a:solidFill>
            <a:prstDash val="solid"/>
          </a:ln>
        </p:spPr>
      </p:sp>
      <p:sp>
        <p:nvSpPr>
          <p:cNvPr id="16" name="Text 13"/>
          <p:cNvSpPr txBox="1"/>
          <p:nvPr/>
        </p:nvSpPr>
        <p:spPr>
          <a:xfrm>
            <a:off x="457200" y="3611880"/>
            <a:ext cx="2377440" cy="64008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main에 합쳐진다</a:t>
            </a:r>
            <a:endParaRPr lang="en-US" sz="1400" dirty="0"/>
          </a:p>
        </p:txBody>
      </p:sp>
      <p:sp>
        <p:nvSpPr>
          <p:cNvPr id="17" name="Text 14"/>
          <p:cNvSpPr txBox="1"/>
          <p:nvPr/>
        </p:nvSpPr>
        <p:spPr>
          <a:xfrm>
            <a:off x="2788920" y="37033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8" name="Shape 15"/>
          <p:cNvSpPr/>
          <p:nvPr/>
        </p:nvSpPr>
        <p:spPr>
          <a:xfrm>
            <a:off x="3383280" y="3611880"/>
            <a:ext cx="2377440" cy="640080"/>
          </a:xfrm>
          <a:prstGeom prst="roundRect">
            <a:avLst>
              <a:gd name="adj" fmla="val 14286"/>
            </a:avLst>
          </a:prstGeom>
          <a:solidFill>
            <a:srgbClr val="F2F5F4"/>
          </a:solidFill>
          <a:ln w="6350">
            <a:solidFill>
              <a:srgbClr val="F2F5F4"/>
            </a:solidFill>
            <a:prstDash val="solid"/>
          </a:ln>
        </p:spPr>
      </p:sp>
      <p:sp>
        <p:nvSpPr>
          <p:cNvPr id="19" name="Text 16"/>
          <p:cNvSpPr txBox="1"/>
          <p:nvPr/>
        </p:nvSpPr>
        <p:spPr>
          <a:xfrm>
            <a:off x="3383280" y="3611880"/>
            <a:ext cx="2377440" cy="64008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GitHub Actions</a:t>
            </a:r>
            <a:endParaRPr lang="en-US" sz="1400" dirty="0"/>
          </a:p>
        </p:txBody>
      </p:sp>
      <p:sp>
        <p:nvSpPr>
          <p:cNvPr id="20" name="Text 17"/>
          <p:cNvSpPr txBox="1"/>
          <p:nvPr/>
        </p:nvSpPr>
        <p:spPr>
          <a:xfrm>
            <a:off x="5715000" y="37033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21" name="Shape 18"/>
          <p:cNvSpPr/>
          <p:nvPr/>
        </p:nvSpPr>
        <p:spPr>
          <a:xfrm>
            <a:off x="6309360" y="3611880"/>
            <a:ext cx="2377440" cy="640080"/>
          </a:xfrm>
          <a:prstGeom prst="roundRect">
            <a:avLst>
              <a:gd name="adj" fmla="val 14286"/>
            </a:avLst>
          </a:prstGeom>
          <a:solidFill>
            <a:srgbClr val="F2F5F4"/>
          </a:solidFill>
          <a:ln w="6350">
            <a:solidFill>
              <a:srgbClr val="F2F5F4"/>
            </a:solidFill>
            <a:prstDash val="solid"/>
          </a:ln>
        </p:spPr>
      </p:sp>
      <p:sp>
        <p:nvSpPr>
          <p:cNvPr id="22" name="Text 19"/>
          <p:cNvSpPr txBox="1"/>
          <p:nvPr/>
        </p:nvSpPr>
        <p:spPr>
          <a:xfrm>
            <a:off x="6309360" y="3611880"/>
            <a:ext cx="2377440" cy="64008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Render에 배포 요청</a:t>
            </a:r>
            <a:endParaRPr lang="en-US" sz="1400" dirty="0"/>
          </a:p>
        </p:txBody>
      </p:sp>
      <p:sp>
        <p:nvSpPr>
          <p:cNvPr id="23" name="Text 20"/>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실제 반영(Live)은 Render Events에서 확인한다</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C</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데이터 처리와 계산 정확성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다른 형식의 파일을 하나의 구조로 맞춘다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TECH_SPEC 4장 · 계약 README 1장</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9 / 20</a:t>
            </a:r>
            <a:endParaRPr lang="en-US" sz="1000" dirty="0"/>
          </a:p>
        </p:txBody>
      </p:sp>
      <p:sp>
        <p:nvSpPr>
          <p:cNvPr id="9" name="Text 6"/>
          <p:cNvSpPr txBox="1"/>
          <p:nvPr/>
        </p:nvSpPr>
        <p:spPr>
          <a:xfrm>
            <a:off x="457200" y="1691640"/>
            <a:ext cx="2560320" cy="274320"/>
          </a:xfrm>
          <a:prstGeom prst="rect">
            <a:avLst/>
          </a:prstGeom>
          <a:noFill/>
          <a:ln/>
        </p:spPr>
        <p:txBody>
          <a:bodyPr wrap="square" lIns="0" tIns="0" rIns="0" bIns="0" rtlCol="0" anchor="t"/>
          <a:lstStyle/>
          <a:p>
            <a:pPr indent="0" marL="0">
              <a:buNone/>
            </a:pPr>
            <a:r>
              <a:rPr lang="en-US" sz="1200" b="1" dirty="0">
                <a:solidFill>
                  <a:srgbClr val="5B6B6B"/>
                </a:solidFill>
                <a:latin typeface="Malgun Gothic" pitchFamily="34" charset="0"/>
                <a:ea typeface="Malgun Gothic" pitchFamily="34" charset="-122"/>
                <a:cs typeface="Malgun Gothic" pitchFamily="34" charset="-120"/>
              </a:rPr>
              <a:t>쿠팡 템플릿</a:t>
            </a:r>
            <a:endParaRPr lang="en-US" sz="1200" dirty="0"/>
          </a:p>
        </p:txBody>
      </p:sp>
      <p:sp>
        <p:nvSpPr>
          <p:cNvPr id="10" name="Text 7"/>
          <p:cNvSpPr txBox="1"/>
          <p:nvPr/>
        </p:nvSpPr>
        <p:spPr>
          <a:xfrm>
            <a:off x="3154680" y="1691640"/>
            <a:ext cx="2560320" cy="274320"/>
          </a:xfrm>
          <a:prstGeom prst="rect">
            <a:avLst/>
          </a:prstGeom>
          <a:noFill/>
          <a:ln/>
        </p:spPr>
        <p:txBody>
          <a:bodyPr wrap="square" lIns="0" tIns="0" rIns="0" bIns="0" rtlCol="0" anchor="t"/>
          <a:lstStyle/>
          <a:p>
            <a:pPr indent="0" marL="0">
              <a:buNone/>
            </a:pPr>
            <a:r>
              <a:rPr lang="en-US" sz="1200" b="1" dirty="0">
                <a:solidFill>
                  <a:srgbClr val="5B6B6B"/>
                </a:solidFill>
                <a:latin typeface="Malgun Gothic" pitchFamily="34" charset="0"/>
                <a:ea typeface="Malgun Gothic" pitchFamily="34" charset="-122"/>
                <a:cs typeface="Malgun Gothic" pitchFamily="34" charset="-120"/>
              </a:rPr>
              <a:t>네이버 템플릿</a:t>
            </a:r>
            <a:endParaRPr lang="en-US" sz="1200" dirty="0"/>
          </a:p>
        </p:txBody>
      </p:sp>
      <p:sp>
        <p:nvSpPr>
          <p:cNvPr id="11" name="Text 8"/>
          <p:cNvSpPr txBox="1"/>
          <p:nvPr/>
        </p:nvSpPr>
        <p:spPr>
          <a:xfrm>
            <a:off x="6400800" y="1691640"/>
            <a:ext cx="2286000" cy="274320"/>
          </a:xfrm>
          <a:prstGeom prst="rect">
            <a:avLst/>
          </a:prstGeom>
          <a:noFill/>
          <a:ln/>
        </p:spPr>
        <p:txBody>
          <a:bodyPr wrap="square" lIns="0" tIns="0" rIns="0" bIns="0" rtlCol="0" anchor="t"/>
          <a:lstStyle/>
          <a:p>
            <a:pPr indent="0" marL="0">
              <a:buNone/>
            </a:pPr>
            <a:r>
              <a:rPr lang="en-US" sz="1200" b="1" dirty="0">
                <a:solidFill>
                  <a:srgbClr val="1F7A6D"/>
                </a:solidFill>
                <a:latin typeface="Malgun Gothic" pitchFamily="34" charset="0"/>
                <a:ea typeface="Malgun Gothic" pitchFamily="34" charset="-122"/>
                <a:cs typeface="Malgun Gothic" pitchFamily="34" charset="-120"/>
              </a:rPr>
              <a:t>공통 필드</a:t>
            </a:r>
            <a:endParaRPr lang="en-US" sz="1200" dirty="0"/>
          </a:p>
        </p:txBody>
      </p:sp>
      <p:sp>
        <p:nvSpPr>
          <p:cNvPr id="12" name="Shape 9"/>
          <p:cNvSpPr/>
          <p:nvPr/>
        </p:nvSpPr>
        <p:spPr>
          <a:xfrm>
            <a:off x="457200" y="2011680"/>
            <a:ext cx="2560320" cy="402336"/>
          </a:xfrm>
          <a:prstGeom prst="roundRect">
            <a:avLst>
              <a:gd name="adj" fmla="val 13636"/>
            </a:avLst>
          </a:prstGeom>
          <a:solidFill>
            <a:srgbClr val="F2F5F4"/>
          </a:solidFill>
          <a:ln w="6350">
            <a:solidFill>
              <a:srgbClr val="F2F5F4"/>
            </a:solidFill>
            <a:prstDash val="solid"/>
          </a:ln>
        </p:spPr>
      </p:sp>
      <p:sp>
        <p:nvSpPr>
          <p:cNvPr id="13" name="Shape 10"/>
          <p:cNvSpPr/>
          <p:nvPr/>
        </p:nvSpPr>
        <p:spPr>
          <a:xfrm>
            <a:off x="3154680" y="2011680"/>
            <a:ext cx="2560320" cy="402336"/>
          </a:xfrm>
          <a:prstGeom prst="roundRect">
            <a:avLst>
              <a:gd name="adj" fmla="val 13636"/>
            </a:avLst>
          </a:prstGeom>
          <a:solidFill>
            <a:srgbClr val="F2F5F4"/>
          </a:solidFill>
          <a:ln w="6350">
            <a:solidFill>
              <a:srgbClr val="F2F5F4"/>
            </a:solidFill>
            <a:prstDash val="solid"/>
          </a:ln>
        </p:spPr>
      </p:sp>
      <p:sp>
        <p:nvSpPr>
          <p:cNvPr id="14" name="Shape 11"/>
          <p:cNvSpPr/>
          <p:nvPr/>
        </p:nvSpPr>
        <p:spPr>
          <a:xfrm>
            <a:off x="6400800" y="2011680"/>
            <a:ext cx="2286000" cy="402336"/>
          </a:xfrm>
          <a:prstGeom prst="roundRect">
            <a:avLst>
              <a:gd name="adj" fmla="val 13636"/>
            </a:avLst>
          </a:prstGeom>
          <a:solidFill>
            <a:srgbClr val="1F7A6D"/>
          </a:solidFill>
          <a:ln w="6350">
            <a:solidFill>
              <a:srgbClr val="1F7A6D"/>
            </a:solidFill>
            <a:prstDash val="solid"/>
          </a:ln>
        </p:spPr>
      </p:sp>
      <p:sp>
        <p:nvSpPr>
          <p:cNvPr id="15" name="Text 12"/>
          <p:cNvSpPr txBox="1"/>
          <p:nvPr/>
        </p:nvSpPr>
        <p:spPr>
          <a:xfrm>
            <a:off x="640080" y="20116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총매출</a:t>
            </a:r>
            <a:endParaRPr lang="en-US" sz="1400" dirty="0"/>
          </a:p>
        </p:txBody>
      </p:sp>
      <p:sp>
        <p:nvSpPr>
          <p:cNvPr id="16" name="Text 13"/>
          <p:cNvSpPr txBox="1"/>
          <p:nvPr/>
        </p:nvSpPr>
        <p:spPr>
          <a:xfrm>
            <a:off x="3337560" y="20116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판매금액(순)</a:t>
            </a:r>
            <a:endParaRPr lang="en-US" sz="1400" dirty="0"/>
          </a:p>
        </p:txBody>
      </p:sp>
      <p:sp>
        <p:nvSpPr>
          <p:cNvPr id="17" name="Text 14"/>
          <p:cNvSpPr txBox="1"/>
          <p:nvPr/>
        </p:nvSpPr>
        <p:spPr>
          <a:xfrm>
            <a:off x="5715000" y="20116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18" name="Text 15"/>
          <p:cNvSpPr txBox="1"/>
          <p:nvPr/>
        </p:nvSpPr>
        <p:spPr>
          <a:xfrm>
            <a:off x="6583680" y="20116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매출  revenue</a:t>
            </a:r>
            <a:endParaRPr lang="en-US" sz="1300" dirty="0"/>
          </a:p>
        </p:txBody>
      </p:sp>
      <p:sp>
        <p:nvSpPr>
          <p:cNvPr id="19" name="Shape 16"/>
          <p:cNvSpPr/>
          <p:nvPr/>
        </p:nvSpPr>
        <p:spPr>
          <a:xfrm>
            <a:off x="457200" y="2468880"/>
            <a:ext cx="2560320" cy="402336"/>
          </a:xfrm>
          <a:prstGeom prst="roundRect">
            <a:avLst>
              <a:gd name="adj" fmla="val 13636"/>
            </a:avLst>
          </a:prstGeom>
          <a:solidFill>
            <a:srgbClr val="F2F5F4"/>
          </a:solidFill>
          <a:ln w="6350">
            <a:solidFill>
              <a:srgbClr val="F2F5F4"/>
            </a:solidFill>
            <a:prstDash val="solid"/>
          </a:ln>
        </p:spPr>
      </p:sp>
      <p:sp>
        <p:nvSpPr>
          <p:cNvPr id="20" name="Shape 17"/>
          <p:cNvSpPr/>
          <p:nvPr/>
        </p:nvSpPr>
        <p:spPr>
          <a:xfrm>
            <a:off x="3154680" y="2468880"/>
            <a:ext cx="2560320" cy="402336"/>
          </a:xfrm>
          <a:prstGeom prst="roundRect">
            <a:avLst>
              <a:gd name="adj" fmla="val 13636"/>
            </a:avLst>
          </a:prstGeom>
          <a:solidFill>
            <a:srgbClr val="F2F5F4"/>
          </a:solidFill>
          <a:ln w="6350">
            <a:solidFill>
              <a:srgbClr val="F2F5F4"/>
            </a:solidFill>
            <a:prstDash val="solid"/>
          </a:ln>
        </p:spPr>
      </p:sp>
      <p:sp>
        <p:nvSpPr>
          <p:cNvPr id="21" name="Shape 18"/>
          <p:cNvSpPr/>
          <p:nvPr/>
        </p:nvSpPr>
        <p:spPr>
          <a:xfrm>
            <a:off x="6400800" y="2468880"/>
            <a:ext cx="2286000" cy="402336"/>
          </a:xfrm>
          <a:prstGeom prst="roundRect">
            <a:avLst>
              <a:gd name="adj" fmla="val 13636"/>
            </a:avLst>
          </a:prstGeom>
          <a:solidFill>
            <a:srgbClr val="1F7A6D"/>
          </a:solidFill>
          <a:ln w="6350">
            <a:solidFill>
              <a:srgbClr val="1F7A6D"/>
            </a:solidFill>
            <a:prstDash val="solid"/>
          </a:ln>
        </p:spPr>
      </p:sp>
      <p:sp>
        <p:nvSpPr>
          <p:cNvPr id="22" name="Text 19"/>
          <p:cNvSpPr txBox="1"/>
          <p:nvPr/>
        </p:nvSpPr>
        <p:spPr>
          <a:xfrm>
            <a:off x="640080" y="24688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주문</a:t>
            </a:r>
            <a:endParaRPr lang="en-US" sz="1400" dirty="0"/>
          </a:p>
        </p:txBody>
      </p:sp>
      <p:sp>
        <p:nvSpPr>
          <p:cNvPr id="23" name="Text 20"/>
          <p:cNvSpPr txBox="1"/>
          <p:nvPr/>
        </p:nvSpPr>
        <p:spPr>
          <a:xfrm>
            <a:off x="3337560" y="24688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상품결제건수</a:t>
            </a:r>
            <a:endParaRPr lang="en-US" sz="1400" dirty="0"/>
          </a:p>
        </p:txBody>
      </p:sp>
      <p:sp>
        <p:nvSpPr>
          <p:cNvPr id="24" name="Text 21"/>
          <p:cNvSpPr txBox="1"/>
          <p:nvPr/>
        </p:nvSpPr>
        <p:spPr>
          <a:xfrm>
            <a:off x="5715000" y="24688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25" name="Text 22"/>
          <p:cNvSpPr txBox="1"/>
          <p:nvPr/>
        </p:nvSpPr>
        <p:spPr>
          <a:xfrm>
            <a:off x="6583680" y="24688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주문  orders</a:t>
            </a:r>
            <a:endParaRPr lang="en-US" sz="1300" dirty="0"/>
          </a:p>
        </p:txBody>
      </p:sp>
      <p:sp>
        <p:nvSpPr>
          <p:cNvPr id="26" name="Shape 23"/>
          <p:cNvSpPr/>
          <p:nvPr/>
        </p:nvSpPr>
        <p:spPr>
          <a:xfrm>
            <a:off x="457200" y="2926080"/>
            <a:ext cx="2560320" cy="402336"/>
          </a:xfrm>
          <a:prstGeom prst="roundRect">
            <a:avLst>
              <a:gd name="adj" fmla="val 13636"/>
            </a:avLst>
          </a:prstGeom>
          <a:solidFill>
            <a:srgbClr val="F2F5F4"/>
          </a:solidFill>
          <a:ln w="6350">
            <a:solidFill>
              <a:srgbClr val="F2F5F4"/>
            </a:solidFill>
            <a:prstDash val="solid"/>
          </a:ln>
        </p:spPr>
      </p:sp>
      <p:sp>
        <p:nvSpPr>
          <p:cNvPr id="27" name="Shape 24"/>
          <p:cNvSpPr/>
          <p:nvPr/>
        </p:nvSpPr>
        <p:spPr>
          <a:xfrm>
            <a:off x="3154680" y="2926080"/>
            <a:ext cx="2560320" cy="402336"/>
          </a:xfrm>
          <a:prstGeom prst="roundRect">
            <a:avLst>
              <a:gd name="adj" fmla="val 13636"/>
            </a:avLst>
          </a:prstGeom>
          <a:solidFill>
            <a:srgbClr val="F2F5F4"/>
          </a:solidFill>
          <a:ln w="6350">
            <a:solidFill>
              <a:srgbClr val="F2F5F4"/>
            </a:solidFill>
            <a:prstDash val="solid"/>
          </a:ln>
        </p:spPr>
      </p:sp>
      <p:sp>
        <p:nvSpPr>
          <p:cNvPr id="28" name="Shape 25"/>
          <p:cNvSpPr/>
          <p:nvPr/>
        </p:nvSpPr>
        <p:spPr>
          <a:xfrm>
            <a:off x="6400800" y="2926080"/>
            <a:ext cx="2286000" cy="402336"/>
          </a:xfrm>
          <a:prstGeom prst="roundRect">
            <a:avLst>
              <a:gd name="adj" fmla="val 13636"/>
            </a:avLst>
          </a:prstGeom>
          <a:solidFill>
            <a:srgbClr val="1F7A6D"/>
          </a:solidFill>
          <a:ln w="6350">
            <a:solidFill>
              <a:srgbClr val="1F7A6D"/>
            </a:solidFill>
            <a:prstDash val="solid"/>
          </a:ln>
        </p:spPr>
      </p:sp>
      <p:sp>
        <p:nvSpPr>
          <p:cNvPr id="29" name="Text 26"/>
          <p:cNvSpPr txBox="1"/>
          <p:nvPr/>
        </p:nvSpPr>
        <p:spPr>
          <a:xfrm>
            <a:off x="640080" y="29260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판매량</a:t>
            </a:r>
            <a:endParaRPr lang="en-US" sz="1400" dirty="0"/>
          </a:p>
        </p:txBody>
      </p:sp>
      <p:sp>
        <p:nvSpPr>
          <p:cNvPr id="30" name="Text 27"/>
          <p:cNvSpPr txBox="1"/>
          <p:nvPr/>
        </p:nvSpPr>
        <p:spPr>
          <a:xfrm>
            <a:off x="3337560" y="29260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결제상품수량</a:t>
            </a:r>
            <a:endParaRPr lang="en-US" sz="1400" dirty="0"/>
          </a:p>
        </p:txBody>
      </p:sp>
      <p:sp>
        <p:nvSpPr>
          <p:cNvPr id="31" name="Text 28"/>
          <p:cNvSpPr txBox="1"/>
          <p:nvPr/>
        </p:nvSpPr>
        <p:spPr>
          <a:xfrm>
            <a:off x="5715000" y="29260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32" name="Text 29"/>
          <p:cNvSpPr txBox="1"/>
          <p:nvPr/>
        </p:nvSpPr>
        <p:spPr>
          <a:xfrm>
            <a:off x="6583680" y="29260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판매량  units</a:t>
            </a:r>
            <a:endParaRPr lang="en-US" sz="1300" dirty="0"/>
          </a:p>
        </p:txBody>
      </p:sp>
      <p:sp>
        <p:nvSpPr>
          <p:cNvPr id="33" name="Shape 30"/>
          <p:cNvSpPr/>
          <p:nvPr/>
        </p:nvSpPr>
        <p:spPr>
          <a:xfrm>
            <a:off x="457200" y="3383280"/>
            <a:ext cx="2560320" cy="402336"/>
          </a:xfrm>
          <a:prstGeom prst="roundRect">
            <a:avLst>
              <a:gd name="adj" fmla="val 13636"/>
            </a:avLst>
          </a:prstGeom>
          <a:solidFill>
            <a:srgbClr val="F2F5F4"/>
          </a:solidFill>
          <a:ln w="6350">
            <a:solidFill>
              <a:srgbClr val="F2F5F4"/>
            </a:solidFill>
            <a:prstDash val="solid"/>
          </a:ln>
        </p:spPr>
      </p:sp>
      <p:sp>
        <p:nvSpPr>
          <p:cNvPr id="34" name="Shape 31"/>
          <p:cNvSpPr/>
          <p:nvPr/>
        </p:nvSpPr>
        <p:spPr>
          <a:xfrm>
            <a:off x="3154680" y="3383280"/>
            <a:ext cx="2560320" cy="402336"/>
          </a:xfrm>
          <a:prstGeom prst="roundRect">
            <a:avLst>
              <a:gd name="adj" fmla="val 13636"/>
            </a:avLst>
          </a:prstGeom>
          <a:solidFill>
            <a:srgbClr val="F2F5F4"/>
          </a:solidFill>
          <a:ln w="6350">
            <a:solidFill>
              <a:srgbClr val="F2F5F4"/>
            </a:solidFill>
            <a:prstDash val="solid"/>
          </a:ln>
        </p:spPr>
      </p:sp>
      <p:sp>
        <p:nvSpPr>
          <p:cNvPr id="35" name="Shape 32"/>
          <p:cNvSpPr/>
          <p:nvPr/>
        </p:nvSpPr>
        <p:spPr>
          <a:xfrm>
            <a:off x="6400800" y="3383280"/>
            <a:ext cx="2286000" cy="402336"/>
          </a:xfrm>
          <a:prstGeom prst="roundRect">
            <a:avLst>
              <a:gd name="adj" fmla="val 13636"/>
            </a:avLst>
          </a:prstGeom>
          <a:solidFill>
            <a:srgbClr val="1F7A6D"/>
          </a:solidFill>
          <a:ln w="6350">
            <a:solidFill>
              <a:srgbClr val="1F7A6D"/>
            </a:solidFill>
            <a:prstDash val="solid"/>
          </a:ln>
        </p:spPr>
      </p:sp>
      <p:sp>
        <p:nvSpPr>
          <p:cNvPr id="36" name="Text 33"/>
          <p:cNvSpPr txBox="1"/>
          <p:nvPr/>
        </p:nvSpPr>
        <p:spPr>
          <a:xfrm>
            <a:off x="640080" y="33832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광고비</a:t>
            </a:r>
            <a:endParaRPr lang="en-US" sz="1400" dirty="0"/>
          </a:p>
        </p:txBody>
      </p:sp>
      <p:sp>
        <p:nvSpPr>
          <p:cNvPr id="37" name="Text 34"/>
          <p:cNvSpPr txBox="1"/>
          <p:nvPr/>
        </p:nvSpPr>
        <p:spPr>
          <a:xfrm>
            <a:off x="3337560" y="33832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광고비용</a:t>
            </a:r>
            <a:endParaRPr lang="en-US" sz="1400" dirty="0"/>
          </a:p>
        </p:txBody>
      </p:sp>
      <p:sp>
        <p:nvSpPr>
          <p:cNvPr id="38" name="Text 35"/>
          <p:cNvSpPr txBox="1"/>
          <p:nvPr/>
        </p:nvSpPr>
        <p:spPr>
          <a:xfrm>
            <a:off x="5715000" y="33832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39" name="Text 36"/>
          <p:cNvSpPr txBox="1"/>
          <p:nvPr/>
        </p:nvSpPr>
        <p:spPr>
          <a:xfrm>
            <a:off x="6583680" y="33832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광고비  ad_spend</a:t>
            </a:r>
            <a:endParaRPr lang="en-US" sz="1300" dirty="0"/>
          </a:p>
        </p:txBody>
      </p:sp>
      <p:sp>
        <p:nvSpPr>
          <p:cNvPr id="40" name="Shape 37"/>
          <p:cNvSpPr/>
          <p:nvPr/>
        </p:nvSpPr>
        <p:spPr>
          <a:xfrm>
            <a:off x="457200" y="3840480"/>
            <a:ext cx="2560320" cy="402336"/>
          </a:xfrm>
          <a:prstGeom prst="roundRect">
            <a:avLst>
              <a:gd name="adj" fmla="val 13636"/>
            </a:avLst>
          </a:prstGeom>
          <a:solidFill>
            <a:srgbClr val="F2F5F4"/>
          </a:solidFill>
          <a:ln w="6350">
            <a:solidFill>
              <a:srgbClr val="F2F5F4"/>
            </a:solidFill>
            <a:prstDash val="solid"/>
          </a:ln>
        </p:spPr>
      </p:sp>
      <p:sp>
        <p:nvSpPr>
          <p:cNvPr id="41" name="Shape 38"/>
          <p:cNvSpPr/>
          <p:nvPr/>
        </p:nvSpPr>
        <p:spPr>
          <a:xfrm>
            <a:off x="3154680" y="3840480"/>
            <a:ext cx="2560320" cy="402336"/>
          </a:xfrm>
          <a:prstGeom prst="roundRect">
            <a:avLst>
              <a:gd name="adj" fmla="val 13636"/>
            </a:avLst>
          </a:prstGeom>
          <a:solidFill>
            <a:srgbClr val="F2F5F4"/>
          </a:solidFill>
          <a:ln w="6350">
            <a:solidFill>
              <a:srgbClr val="F2F5F4"/>
            </a:solidFill>
            <a:prstDash val="solid"/>
          </a:ln>
        </p:spPr>
      </p:sp>
      <p:sp>
        <p:nvSpPr>
          <p:cNvPr id="42" name="Shape 39"/>
          <p:cNvSpPr/>
          <p:nvPr/>
        </p:nvSpPr>
        <p:spPr>
          <a:xfrm>
            <a:off x="6400800" y="3840480"/>
            <a:ext cx="2286000" cy="402336"/>
          </a:xfrm>
          <a:prstGeom prst="roundRect">
            <a:avLst>
              <a:gd name="adj" fmla="val 13636"/>
            </a:avLst>
          </a:prstGeom>
          <a:solidFill>
            <a:srgbClr val="1F7A6D"/>
          </a:solidFill>
          <a:ln w="6350">
            <a:solidFill>
              <a:srgbClr val="1F7A6D"/>
            </a:solidFill>
            <a:prstDash val="solid"/>
          </a:ln>
        </p:spPr>
      </p:sp>
      <p:sp>
        <p:nvSpPr>
          <p:cNvPr id="43" name="Text 40"/>
          <p:cNvSpPr txBox="1"/>
          <p:nvPr/>
        </p:nvSpPr>
        <p:spPr>
          <a:xfrm>
            <a:off x="640080" y="38404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광고매출</a:t>
            </a:r>
            <a:endParaRPr lang="en-US" sz="1400" dirty="0"/>
          </a:p>
        </p:txBody>
      </p:sp>
      <p:sp>
        <p:nvSpPr>
          <p:cNvPr id="44" name="Text 41"/>
          <p:cNvSpPr txBox="1"/>
          <p:nvPr/>
        </p:nvSpPr>
        <p:spPr>
          <a:xfrm>
            <a:off x="3337560" y="38404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전환매출</a:t>
            </a:r>
            <a:endParaRPr lang="en-US" sz="1400" dirty="0"/>
          </a:p>
        </p:txBody>
      </p:sp>
      <p:sp>
        <p:nvSpPr>
          <p:cNvPr id="45" name="Text 42"/>
          <p:cNvSpPr txBox="1"/>
          <p:nvPr/>
        </p:nvSpPr>
        <p:spPr>
          <a:xfrm>
            <a:off x="5715000" y="38404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46" name="Text 43"/>
          <p:cNvSpPr txBox="1"/>
          <p:nvPr/>
        </p:nvSpPr>
        <p:spPr>
          <a:xfrm>
            <a:off x="6583680" y="38404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광고매출  ad_revenue</a:t>
            </a:r>
            <a:endParaRPr lang="en-US" sz="1300" dirty="0"/>
          </a:p>
        </p:txBody>
      </p:sp>
      <p:sp>
        <p:nvSpPr>
          <p:cNvPr id="47" name="Text 44"/>
          <p:cNvSpPr txBox="1"/>
          <p:nvPr/>
        </p:nvSpPr>
        <p:spPr>
          <a:xfrm>
            <a:off x="457200" y="4407408"/>
            <a:ext cx="8229600" cy="274320"/>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같은 지표, 다른 이름을 하나로 맞춘다. 실제 내보내기 4종도 같은 구조로 읽는다.</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C</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데이터 처리와 계산 정확성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계산은 정답·원본 합계와 일치한다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TEST_RESULTS 4장 · 합성 fixture 기준</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10 / 20</a:t>
            </a:r>
            <a:endParaRPr lang="en-US" sz="1000" dirty="0"/>
          </a:p>
        </p:txBody>
      </p:sp>
      <p:sp>
        <p:nvSpPr>
          <p:cNvPr id="9" name="Shape 6"/>
          <p:cNvSpPr/>
          <p:nvPr/>
        </p:nvSpPr>
        <p:spPr>
          <a:xfrm>
            <a:off x="457200" y="1828800"/>
            <a:ext cx="2194560" cy="1371600"/>
          </a:xfrm>
          <a:prstGeom prst="roundRect">
            <a:avLst>
              <a:gd name="adj" fmla="val 6667"/>
            </a:avLst>
          </a:prstGeom>
          <a:solidFill>
            <a:srgbClr val="E6F2EF"/>
          </a:solidFill>
          <a:ln w="6350">
            <a:solidFill>
              <a:srgbClr val="E6F2EF"/>
            </a:solidFill>
            <a:prstDash val="solid"/>
          </a:ln>
        </p:spPr>
      </p:sp>
      <p:sp>
        <p:nvSpPr>
          <p:cNvPr id="10" name="Text 7"/>
          <p:cNvSpPr txBox="1"/>
          <p:nvPr/>
        </p:nvSpPr>
        <p:spPr>
          <a:xfrm>
            <a:off x="640080" y="1938528"/>
            <a:ext cx="1828800" cy="713232"/>
          </a:xfrm>
          <a:prstGeom prst="rect">
            <a:avLst/>
          </a:prstGeom>
          <a:noFill/>
          <a:ln/>
        </p:spPr>
        <p:txBody>
          <a:bodyPr wrap="square" lIns="0" tIns="0" rIns="0" bIns="0" rtlCol="0" anchor="ctr"/>
          <a:lstStyle/>
          <a:p>
            <a:pPr indent="0" marL="0">
              <a:buNone/>
            </a:pPr>
            <a:r>
              <a:rPr lang="en-US" sz="3400" b="1" dirty="0">
                <a:solidFill>
                  <a:srgbClr val="0E3B3B"/>
                </a:solidFill>
                <a:latin typeface="Malgun Gothic" pitchFamily="34" charset="0"/>
                <a:ea typeface="Malgun Gothic" pitchFamily="34" charset="-122"/>
                <a:cs typeface="Malgun Gothic" pitchFamily="34" charset="-120"/>
              </a:rPr>
              <a:t>+21.2%</a:t>
            </a:r>
            <a:endParaRPr lang="en-US" sz="3400" dirty="0"/>
          </a:p>
        </p:txBody>
      </p:sp>
      <p:sp>
        <p:nvSpPr>
          <p:cNvPr id="11" name="Text 8"/>
          <p:cNvSpPr txBox="1"/>
          <p:nvPr/>
        </p:nvSpPr>
        <p:spPr>
          <a:xfrm>
            <a:off x="640080" y="2679192"/>
            <a:ext cx="182880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매출</a:t>
            </a:r>
            <a:endParaRPr lang="en-US" sz="1200" dirty="0"/>
          </a:p>
        </p:txBody>
      </p:sp>
      <p:sp>
        <p:nvSpPr>
          <p:cNvPr id="12" name="Shape 9"/>
          <p:cNvSpPr/>
          <p:nvPr/>
        </p:nvSpPr>
        <p:spPr>
          <a:xfrm>
            <a:off x="2834640" y="1828800"/>
            <a:ext cx="2194560" cy="1371600"/>
          </a:xfrm>
          <a:prstGeom prst="roundRect">
            <a:avLst>
              <a:gd name="adj" fmla="val 6667"/>
            </a:avLst>
          </a:prstGeom>
          <a:solidFill>
            <a:srgbClr val="E6F2EF"/>
          </a:solidFill>
          <a:ln w="6350">
            <a:solidFill>
              <a:srgbClr val="E6F2EF"/>
            </a:solidFill>
            <a:prstDash val="solid"/>
          </a:ln>
        </p:spPr>
      </p:sp>
      <p:sp>
        <p:nvSpPr>
          <p:cNvPr id="13" name="Text 10"/>
          <p:cNvSpPr txBox="1"/>
          <p:nvPr/>
        </p:nvSpPr>
        <p:spPr>
          <a:xfrm>
            <a:off x="3017520" y="1938528"/>
            <a:ext cx="1828800" cy="713232"/>
          </a:xfrm>
          <a:prstGeom prst="rect">
            <a:avLst/>
          </a:prstGeom>
          <a:noFill/>
          <a:ln/>
        </p:spPr>
        <p:txBody>
          <a:bodyPr wrap="square" lIns="0" tIns="0" rIns="0" bIns="0" rtlCol="0" anchor="ctr"/>
          <a:lstStyle/>
          <a:p>
            <a:pPr indent="0" marL="0">
              <a:buNone/>
            </a:pPr>
            <a:r>
              <a:rPr lang="en-US" sz="3400" b="1" dirty="0">
                <a:solidFill>
                  <a:srgbClr val="0E3B3B"/>
                </a:solidFill>
                <a:latin typeface="Malgun Gothic" pitchFamily="34" charset="0"/>
                <a:ea typeface="Malgun Gothic" pitchFamily="34" charset="-122"/>
                <a:cs typeface="Malgun Gothic" pitchFamily="34" charset="-120"/>
              </a:rPr>
              <a:t>+28.0%</a:t>
            </a:r>
            <a:endParaRPr lang="en-US" sz="3400" dirty="0"/>
          </a:p>
        </p:txBody>
      </p:sp>
      <p:sp>
        <p:nvSpPr>
          <p:cNvPr id="14" name="Text 11"/>
          <p:cNvSpPr txBox="1"/>
          <p:nvPr/>
        </p:nvSpPr>
        <p:spPr>
          <a:xfrm>
            <a:off x="3017520" y="2679192"/>
            <a:ext cx="182880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광고비</a:t>
            </a:r>
            <a:endParaRPr lang="en-US" sz="1200" dirty="0"/>
          </a:p>
        </p:txBody>
      </p:sp>
      <p:sp>
        <p:nvSpPr>
          <p:cNvPr id="15" name="Shape 12"/>
          <p:cNvSpPr/>
          <p:nvPr/>
        </p:nvSpPr>
        <p:spPr>
          <a:xfrm>
            <a:off x="5212080" y="1828800"/>
            <a:ext cx="3474720" cy="1371600"/>
          </a:xfrm>
          <a:prstGeom prst="roundRect">
            <a:avLst>
              <a:gd name="adj" fmla="val 6667"/>
            </a:avLst>
          </a:prstGeom>
          <a:solidFill>
            <a:srgbClr val="0E3B3B"/>
          </a:solidFill>
          <a:ln w="6350">
            <a:solidFill>
              <a:srgbClr val="0E3B3B"/>
            </a:solidFill>
            <a:prstDash val="solid"/>
          </a:ln>
        </p:spPr>
      </p:sp>
      <p:sp>
        <p:nvSpPr>
          <p:cNvPr id="16" name="Text 13"/>
          <p:cNvSpPr txBox="1"/>
          <p:nvPr/>
        </p:nvSpPr>
        <p:spPr>
          <a:xfrm>
            <a:off x="5394960" y="1938528"/>
            <a:ext cx="3108960" cy="713232"/>
          </a:xfrm>
          <a:prstGeom prst="rect">
            <a:avLst/>
          </a:prstGeom>
          <a:noFill/>
          <a:ln/>
        </p:spPr>
        <p:txBody>
          <a:bodyPr wrap="square" lIns="0" tIns="0" rIns="0" bIns="0" rtlCol="0" anchor="ctr"/>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326.7→312.5%</a:t>
            </a:r>
            <a:endParaRPr lang="en-US" sz="2800" dirty="0"/>
          </a:p>
        </p:txBody>
      </p:sp>
      <p:sp>
        <p:nvSpPr>
          <p:cNvPr id="17" name="Text 14"/>
          <p:cNvSpPr txBox="1"/>
          <p:nvPr/>
        </p:nvSpPr>
        <p:spPr>
          <a:xfrm>
            <a:off x="5394960" y="2679192"/>
            <a:ext cx="3108960" cy="438912"/>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ROAS (−14.2%p)</a:t>
            </a:r>
            <a:endParaRPr lang="en-US" sz="1200" dirty="0"/>
          </a:p>
        </p:txBody>
      </p:sp>
      <p:sp>
        <p:nvSpPr>
          <p:cNvPr id="18" name="Shape 15"/>
          <p:cNvSpPr/>
          <p:nvPr/>
        </p:nvSpPr>
        <p:spPr>
          <a:xfrm>
            <a:off x="457200" y="3479292"/>
            <a:ext cx="310896" cy="310896"/>
          </a:xfrm>
          <a:prstGeom prst="ellipse">
            <a:avLst/>
          </a:prstGeom>
          <a:solidFill>
            <a:srgbClr val="1F7A6D"/>
          </a:solidFill>
          <a:ln w="6350">
            <a:solidFill>
              <a:srgbClr val="1F7A6D"/>
            </a:solidFill>
            <a:prstDash val="solid"/>
          </a:ln>
        </p:spPr>
      </p:sp>
      <p:sp>
        <p:nvSpPr>
          <p:cNvPr id="19" name="Text 16"/>
          <p:cNvSpPr txBox="1"/>
          <p:nvPr/>
        </p:nvSpPr>
        <p:spPr>
          <a:xfrm>
            <a:off x="457200" y="34792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20" name="Text 17"/>
          <p:cNvSpPr txBox="1"/>
          <p:nvPr/>
        </p:nvSpPr>
        <p:spPr>
          <a:xfrm>
            <a:off x="914400" y="3383280"/>
            <a:ext cx="777240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정답 100% 일치 · 같은 입력 10회 동일 · 백엔드 자동 테스트 646개</a:t>
            </a:r>
            <a:endParaRPr lang="en-US" sz="1400" dirty="0"/>
          </a:p>
        </p:txBody>
      </p:sp>
      <p:sp>
        <p:nvSpPr>
          <p:cNvPr id="21" name="Shape 18"/>
          <p:cNvSpPr/>
          <p:nvPr/>
        </p:nvSpPr>
        <p:spPr>
          <a:xfrm>
            <a:off x="457200" y="4096512"/>
            <a:ext cx="310896" cy="310896"/>
          </a:xfrm>
          <a:prstGeom prst="ellipse">
            <a:avLst/>
          </a:prstGeom>
          <a:solidFill>
            <a:srgbClr val="1F7A6D"/>
          </a:solidFill>
          <a:ln w="6350">
            <a:solidFill>
              <a:srgbClr val="1F7A6D"/>
            </a:solidFill>
            <a:prstDash val="solid"/>
          </a:ln>
        </p:spPr>
      </p:sp>
      <p:sp>
        <p:nvSpPr>
          <p:cNvPr id="22" name="Text 19"/>
          <p:cNvSpPr txBox="1"/>
          <p:nvPr/>
        </p:nvSpPr>
        <p:spPr>
          <a:xfrm>
            <a:off x="457200" y="40965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23" name="Text 20"/>
          <p:cNvSpPr txBox="1"/>
          <p:nvPr/>
        </p:nvSpPr>
        <p:spPr>
          <a:xfrm>
            <a:off x="914400" y="3977640"/>
            <a:ext cx="6126480" cy="54864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실제 형식도 원본 엑셀 합계와 일치: 쿠팡 551.8% · 네이버 357.9%</a:t>
            </a:r>
            <a:endParaRPr lang="en-US" sz="1400" dirty="0"/>
          </a:p>
        </p:txBody>
      </p:sp>
      <p:sp>
        <p:nvSpPr>
          <p:cNvPr id="24" name="Shape 21"/>
          <p:cNvSpPr/>
          <p:nvPr/>
        </p:nvSpPr>
        <p:spPr>
          <a:xfrm>
            <a:off x="7223760" y="4023360"/>
            <a:ext cx="1463040" cy="457200"/>
          </a:xfrm>
          <a:prstGeom prst="roundRect">
            <a:avLst>
              <a:gd name="adj" fmla="val 20000"/>
            </a:avLst>
          </a:prstGeom>
          <a:solidFill>
            <a:srgbClr val="F5B83D"/>
          </a:solidFill>
          <a:ln w="6350">
            <a:solidFill>
              <a:srgbClr val="F5B83D"/>
            </a:solidFill>
            <a:prstDash val="solid"/>
          </a:ln>
        </p:spPr>
      </p:sp>
      <p:sp>
        <p:nvSpPr>
          <p:cNvPr id="25" name="Text 22"/>
          <p:cNvSpPr txBox="1"/>
          <p:nvPr/>
        </p:nvSpPr>
        <p:spPr>
          <a:xfrm>
            <a:off x="7223760" y="4023360"/>
            <a:ext cx="1463040" cy="457200"/>
          </a:xfrm>
          <a:prstGeom prst="rect">
            <a:avLst/>
          </a:prstGeom>
          <a:noFill/>
          <a:ln/>
        </p:spPr>
        <p:txBody>
          <a:bodyPr wrap="square" lIns="0" tIns="0" rIns="0" bIns="0" rtlCol="0" anchor="ctr"/>
          <a:lstStyle/>
          <a:p>
            <a:pPr algn="ctr" indent="0" marL="0">
              <a:buNone/>
            </a:pPr>
            <a:r>
              <a:rPr lang="en-US" sz="1100" b="1" dirty="0">
                <a:solidFill>
                  <a:srgbClr val="0E3B3B"/>
                </a:solidFill>
                <a:latin typeface="Malgun Gothic" pitchFamily="34" charset="0"/>
                <a:ea typeface="Malgun Gothic" pitchFamily="34" charset="-122"/>
                <a:cs typeface="Malgun Gothic" pitchFamily="34" charset="-120"/>
              </a:rPr>
              <a:t>쿠팡은 14일 기준</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C</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데이터 처리와 계산 정확성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테스트가 실제 버그를 잡았다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TEST_RESULTS 4장 (스마트스토어 판매 분석 파일)</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11 / 20</a:t>
            </a:r>
            <a:endParaRPr lang="en-US" sz="1000" dirty="0"/>
          </a:p>
        </p:txBody>
      </p:sp>
      <p:sp>
        <p:nvSpPr>
          <p:cNvPr id="9" name="Shape 6"/>
          <p:cNvSpPr/>
          <p:nvPr/>
        </p:nvSpPr>
        <p:spPr>
          <a:xfrm>
            <a:off x="457200" y="1828800"/>
            <a:ext cx="3931920" cy="2743200"/>
          </a:xfrm>
          <a:prstGeom prst="roundRect">
            <a:avLst>
              <a:gd name="adj" fmla="val 3333"/>
            </a:avLst>
          </a:prstGeom>
          <a:solidFill>
            <a:srgbClr val="0E3B3B"/>
          </a:solidFill>
          <a:ln w="6350">
            <a:solidFill>
              <a:srgbClr val="0E3B3B"/>
            </a:solidFill>
            <a:prstDash val="solid"/>
          </a:ln>
        </p:spPr>
      </p:sp>
      <p:sp>
        <p:nvSpPr>
          <p:cNvPr id="10" name="Text 7"/>
          <p:cNvSpPr txBox="1"/>
          <p:nvPr/>
        </p:nvSpPr>
        <p:spPr>
          <a:xfrm>
            <a:off x="731520" y="1965960"/>
            <a:ext cx="3383280" cy="274320"/>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고치기 전</a:t>
            </a:r>
            <a:endParaRPr lang="en-US" sz="1200" dirty="0"/>
          </a:p>
        </p:txBody>
      </p:sp>
      <p:sp>
        <p:nvSpPr>
          <p:cNvPr id="11" name="Text 8"/>
          <p:cNvSpPr txBox="1"/>
          <p:nvPr/>
        </p:nvSpPr>
        <p:spPr>
          <a:xfrm>
            <a:off x="731520" y="2240280"/>
            <a:ext cx="3383280" cy="640080"/>
          </a:xfrm>
          <a:prstGeom prst="rect">
            <a:avLst/>
          </a:prstGeom>
          <a:noFill/>
          <a:ln/>
        </p:spPr>
        <p:txBody>
          <a:bodyPr wrap="square" lIns="0" tIns="0" rIns="0" bIns="0" rtlCol="0" anchor="ctr"/>
          <a:lstStyle/>
          <a:p>
            <a:pPr indent="0" marL="0">
              <a:buNone/>
            </a:pPr>
            <a:r>
              <a:rPr lang="en-US" sz="3400" b="1" dirty="0">
                <a:solidFill>
                  <a:srgbClr val="FFFFFF"/>
                </a:solidFill>
                <a:latin typeface="Malgun Gothic" pitchFamily="34" charset="0"/>
                <a:ea typeface="Malgun Gothic" pitchFamily="34" charset="-122"/>
                <a:cs typeface="Malgun Gothic" pitchFamily="34" charset="-120"/>
              </a:rPr>
              <a:t>6,346,200</a:t>
            </a:r>
            <a:endParaRPr lang="en-US" sz="3400" dirty="0"/>
          </a:p>
        </p:txBody>
      </p:sp>
      <p:sp>
        <p:nvSpPr>
          <p:cNvPr id="12" name="Text 9"/>
          <p:cNvSpPr txBox="1"/>
          <p:nvPr/>
        </p:nvSpPr>
        <p:spPr>
          <a:xfrm>
            <a:off x="731520" y="2880360"/>
            <a:ext cx="3383280" cy="457200"/>
          </a:xfrm>
          <a:prstGeom prst="rect">
            <a:avLst/>
          </a:prstGeom>
          <a:noFill/>
          <a:ln/>
        </p:spPr>
        <p:txBody>
          <a:bodyPr wrap="square" lIns="0" tIns="0" rIns="0" bIns="0" rtlCol="0" anchor="ctr"/>
          <a:lstStyle/>
          <a:p>
            <a:pPr indent="0" marL="0">
              <a:buNone/>
            </a:pPr>
            <a:r>
              <a:rPr lang="en-US" sz="2600" b="1" dirty="0">
                <a:solidFill>
                  <a:srgbClr val="F5B83D"/>
                </a:solidFill>
                <a:latin typeface="Malgun Gothic" pitchFamily="34" charset="0"/>
                <a:ea typeface="Malgun Gothic" pitchFamily="34" charset="-122"/>
                <a:cs typeface="Malgun Gothic" pitchFamily="34" charset="-120"/>
              </a:rPr>
              <a:t>↓</a:t>
            </a:r>
            <a:endParaRPr lang="en-US" sz="2600" dirty="0"/>
          </a:p>
        </p:txBody>
      </p:sp>
      <p:sp>
        <p:nvSpPr>
          <p:cNvPr id="13" name="Text 10"/>
          <p:cNvSpPr txBox="1"/>
          <p:nvPr/>
        </p:nvSpPr>
        <p:spPr>
          <a:xfrm>
            <a:off x="731520" y="3383280"/>
            <a:ext cx="3383280" cy="274320"/>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고친 뒤 (정답과 일치)</a:t>
            </a:r>
            <a:endParaRPr lang="en-US" sz="1200" dirty="0"/>
          </a:p>
        </p:txBody>
      </p:sp>
      <p:sp>
        <p:nvSpPr>
          <p:cNvPr id="14" name="Text 11"/>
          <p:cNvSpPr txBox="1"/>
          <p:nvPr/>
        </p:nvSpPr>
        <p:spPr>
          <a:xfrm>
            <a:off x="731520" y="3657600"/>
            <a:ext cx="3383280" cy="640080"/>
          </a:xfrm>
          <a:prstGeom prst="rect">
            <a:avLst/>
          </a:prstGeom>
          <a:noFill/>
          <a:ln/>
        </p:spPr>
        <p:txBody>
          <a:bodyPr wrap="square" lIns="0" tIns="0" rIns="0" bIns="0" rtlCol="0" anchor="ctr"/>
          <a:lstStyle/>
          <a:p>
            <a:pPr indent="0" marL="0">
              <a:buNone/>
            </a:pPr>
            <a:r>
              <a:rPr lang="en-US" sz="3400" b="1" dirty="0">
                <a:solidFill>
                  <a:srgbClr val="FFFFFF"/>
                </a:solidFill>
                <a:latin typeface="Malgun Gothic" pitchFamily="34" charset="0"/>
                <a:ea typeface="Malgun Gothic" pitchFamily="34" charset="-122"/>
                <a:cs typeface="Malgun Gothic" pitchFamily="34" charset="-120"/>
              </a:rPr>
              <a:t>2,115,400</a:t>
            </a:r>
            <a:endParaRPr lang="en-US" sz="3400" dirty="0"/>
          </a:p>
        </p:txBody>
      </p:sp>
      <p:sp>
        <p:nvSpPr>
          <p:cNvPr id="15" name="Shape 12"/>
          <p:cNvSpPr/>
          <p:nvPr/>
        </p:nvSpPr>
        <p:spPr>
          <a:xfrm>
            <a:off x="4809744" y="2189988"/>
            <a:ext cx="146304" cy="146304"/>
          </a:xfrm>
          <a:prstGeom prst="ellipse">
            <a:avLst/>
          </a:prstGeom>
          <a:solidFill>
            <a:srgbClr val="1F7A6D"/>
          </a:solidFill>
          <a:ln w="6350">
            <a:solidFill>
              <a:srgbClr val="1F7A6D"/>
            </a:solidFill>
            <a:prstDash val="solid"/>
          </a:ln>
        </p:spPr>
      </p:sp>
      <p:sp>
        <p:nvSpPr>
          <p:cNvPr id="16" name="Text 13"/>
          <p:cNvSpPr txBox="1"/>
          <p:nvPr/>
        </p:nvSpPr>
        <p:spPr>
          <a:xfrm>
            <a:off x="4809744" y="2189988"/>
            <a:ext cx="146304" cy="146304"/>
          </a:xfrm>
          <a:prstGeom prst="rect">
            <a:avLst/>
          </a:prstGeom>
          <a:noFill/>
          <a:ln/>
        </p:spPr>
        <p:txBody>
          <a:bodyPr wrap="square" lIns="0" tIns="0" rIns="0" bIns="0" rtlCol="0" anchor="ctr"/>
          <a:lstStyle/>
          <a:p>
            <a:pPr algn="ctr" indent="0" marL="0">
              <a:buNone/>
            </a:pPr>
            <a:endParaRPr lang="en-US" sz="800" dirty="0"/>
          </a:p>
        </p:txBody>
      </p:sp>
      <p:sp>
        <p:nvSpPr>
          <p:cNvPr id="17" name="Text 14"/>
          <p:cNvSpPr txBox="1"/>
          <p:nvPr/>
        </p:nvSpPr>
        <p:spPr>
          <a:xfrm>
            <a:off x="5120640" y="1828800"/>
            <a:ext cx="3566160" cy="86868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'전체' 행 때문에 매출이 3배로 집계</a:t>
            </a:r>
            <a:endParaRPr lang="en-US" sz="1400" dirty="0"/>
          </a:p>
        </p:txBody>
      </p:sp>
      <p:sp>
        <p:nvSpPr>
          <p:cNvPr id="18" name="Shape 15"/>
          <p:cNvSpPr/>
          <p:nvPr/>
        </p:nvSpPr>
        <p:spPr>
          <a:xfrm>
            <a:off x="4809744" y="3195828"/>
            <a:ext cx="146304" cy="146304"/>
          </a:xfrm>
          <a:prstGeom prst="ellipse">
            <a:avLst/>
          </a:prstGeom>
          <a:solidFill>
            <a:srgbClr val="1F7A6D"/>
          </a:solidFill>
          <a:ln w="6350">
            <a:solidFill>
              <a:srgbClr val="1F7A6D"/>
            </a:solidFill>
            <a:prstDash val="solid"/>
          </a:ln>
        </p:spPr>
      </p:sp>
      <p:sp>
        <p:nvSpPr>
          <p:cNvPr id="19" name="Text 16"/>
          <p:cNvSpPr txBox="1"/>
          <p:nvPr/>
        </p:nvSpPr>
        <p:spPr>
          <a:xfrm>
            <a:off x="4809744" y="3195828"/>
            <a:ext cx="146304" cy="146304"/>
          </a:xfrm>
          <a:prstGeom prst="rect">
            <a:avLst/>
          </a:prstGeom>
          <a:noFill/>
          <a:ln/>
        </p:spPr>
        <p:txBody>
          <a:bodyPr wrap="square" lIns="0" tIns="0" rIns="0" bIns="0" rtlCol="0" anchor="ctr"/>
          <a:lstStyle/>
          <a:p>
            <a:pPr algn="ctr" indent="0" marL="0">
              <a:buNone/>
            </a:pPr>
            <a:endParaRPr lang="en-US" sz="800" dirty="0"/>
          </a:p>
        </p:txBody>
      </p:sp>
      <p:sp>
        <p:nvSpPr>
          <p:cNvPr id="20" name="Text 17"/>
          <p:cNvSpPr txBox="1"/>
          <p:nvPr/>
        </p:nvSpPr>
        <p:spPr>
          <a:xfrm>
            <a:off x="5120640" y="2834640"/>
            <a:ext cx="3566160" cy="86868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7월+9월만 있을 때 '전월 대비'가 거짓으로 표시</a:t>
            </a:r>
            <a:endParaRPr lang="en-US" sz="1400" dirty="0"/>
          </a:p>
        </p:txBody>
      </p:sp>
      <p:sp>
        <p:nvSpPr>
          <p:cNvPr id="21" name="Shape 18"/>
          <p:cNvSpPr/>
          <p:nvPr/>
        </p:nvSpPr>
        <p:spPr>
          <a:xfrm>
            <a:off x="4809744" y="4133088"/>
            <a:ext cx="146304" cy="146304"/>
          </a:xfrm>
          <a:prstGeom prst="ellipse">
            <a:avLst/>
          </a:prstGeom>
          <a:solidFill>
            <a:srgbClr val="1F7A6D"/>
          </a:solidFill>
          <a:ln w="6350">
            <a:solidFill>
              <a:srgbClr val="1F7A6D"/>
            </a:solidFill>
            <a:prstDash val="solid"/>
          </a:ln>
        </p:spPr>
      </p:sp>
      <p:sp>
        <p:nvSpPr>
          <p:cNvPr id="22" name="Text 19"/>
          <p:cNvSpPr txBox="1"/>
          <p:nvPr/>
        </p:nvSpPr>
        <p:spPr>
          <a:xfrm>
            <a:off x="4809744" y="4133088"/>
            <a:ext cx="146304" cy="146304"/>
          </a:xfrm>
          <a:prstGeom prst="rect">
            <a:avLst/>
          </a:prstGeom>
          <a:noFill/>
          <a:ln/>
        </p:spPr>
        <p:txBody>
          <a:bodyPr wrap="square" lIns="0" tIns="0" rIns="0" bIns="0" rtlCol="0" anchor="ctr"/>
          <a:lstStyle/>
          <a:p>
            <a:pPr algn="ctr" indent="0" marL="0">
              <a:buNone/>
            </a:pPr>
            <a:endParaRPr lang="en-US" sz="800" dirty="0"/>
          </a:p>
        </p:txBody>
      </p:sp>
      <p:sp>
        <p:nvSpPr>
          <p:cNvPr id="23" name="Text 20"/>
          <p:cNvSpPr txBox="1"/>
          <p:nvPr/>
        </p:nvSpPr>
        <p:spPr>
          <a:xfrm>
            <a:off x="5120640" y="3840480"/>
            <a:ext cx="3566160" cy="7315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깨진 파일에서 서버 오류</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D</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AI 신뢰성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평소 쓰는 말로 분석을 요청한다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WU-AI-01/02, #22</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12 / 20</a:t>
            </a:r>
            <a:endParaRPr lang="en-US" sz="1000" dirty="0"/>
          </a:p>
        </p:txBody>
      </p:sp>
      <p:sp>
        <p:nvSpPr>
          <p:cNvPr id="9" name="Shape 6"/>
          <p:cNvSpPr/>
          <p:nvPr/>
        </p:nvSpPr>
        <p:spPr>
          <a:xfrm>
            <a:off x="457200" y="1828800"/>
            <a:ext cx="8229600" cy="640080"/>
          </a:xfrm>
          <a:prstGeom prst="roundRect">
            <a:avLst>
              <a:gd name="adj" fmla="val 14286"/>
            </a:avLst>
          </a:prstGeom>
          <a:solidFill>
            <a:srgbClr val="E6F2EF"/>
          </a:solidFill>
          <a:ln w="6350">
            <a:solidFill>
              <a:srgbClr val="E6F2EF"/>
            </a:solidFill>
            <a:prstDash val="solid"/>
          </a:ln>
        </p:spPr>
      </p:sp>
      <p:sp>
        <p:nvSpPr>
          <p:cNvPr id="10" name="Text 7"/>
          <p:cNvSpPr txBox="1"/>
          <p:nvPr/>
        </p:nvSpPr>
        <p:spPr>
          <a:xfrm>
            <a:off x="685800" y="1828800"/>
            <a:ext cx="7772400" cy="640080"/>
          </a:xfrm>
          <a:prstGeom prst="rect">
            <a:avLst/>
          </a:prstGeom>
          <a:noFill/>
          <a:ln/>
        </p:spPr>
        <p:txBody>
          <a:bodyPr wrap="square" lIns="0" tIns="0" rIns="0" bIns="0" rtlCol="0" anchor="ctr"/>
          <a:lstStyle/>
          <a:p>
            <a:pPr indent="0" marL="0">
              <a:buNone/>
            </a:pPr>
            <a:r>
              <a:rPr lang="en-US" sz="1800" dirty="0">
                <a:solidFill>
                  <a:srgbClr val="0E3B3B"/>
                </a:solidFill>
                <a:latin typeface="Malgun Gothic" pitchFamily="34" charset="0"/>
                <a:ea typeface="Malgun Gothic" pitchFamily="34" charset="-122"/>
                <a:cs typeface="Malgun Gothic" pitchFamily="34" charset="-120"/>
              </a:rPr>
              <a:t>“광고 효율이 가장 안 좋은 플랫폼 어디야?”</a:t>
            </a:r>
            <a:endParaRPr lang="en-US" sz="1800" dirty="0"/>
          </a:p>
        </p:txBody>
      </p:sp>
      <p:sp>
        <p:nvSpPr>
          <p:cNvPr id="11" name="Shape 8"/>
          <p:cNvSpPr/>
          <p:nvPr/>
        </p:nvSpPr>
        <p:spPr>
          <a:xfrm>
            <a:off x="457200" y="2788920"/>
            <a:ext cx="2377440" cy="1463040"/>
          </a:xfrm>
          <a:prstGeom prst="roundRect">
            <a:avLst>
              <a:gd name="adj" fmla="val 6250"/>
            </a:avLst>
          </a:prstGeom>
          <a:solidFill>
            <a:srgbClr val="F2F5F4"/>
          </a:solidFill>
          <a:ln w="6350">
            <a:solidFill>
              <a:srgbClr val="F2F5F4"/>
            </a:solidFill>
            <a:prstDash val="solid"/>
          </a:ln>
        </p:spPr>
      </p:sp>
      <p:sp>
        <p:nvSpPr>
          <p:cNvPr id="12" name="Text 9"/>
          <p:cNvSpPr txBox="1"/>
          <p:nvPr/>
        </p:nvSpPr>
        <p:spPr>
          <a:xfrm>
            <a:off x="594360" y="2880360"/>
            <a:ext cx="2103120" cy="73152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AI가 질문을</a:t>
            </a:r>
            <a:endParaRPr lang="en-US" sz="1400" dirty="0"/>
          </a:p>
          <a:p>
            <a:pPr indent="0" marL="0">
              <a:buNone/>
            </a:pPr>
            <a:r>
              <a:rPr lang="en-US" sz="1400" b="1" dirty="0">
                <a:solidFill>
                  <a:srgbClr val="0E3B3B"/>
                </a:solidFill>
                <a:latin typeface="Malgun Gothic" pitchFamily="34" charset="0"/>
                <a:ea typeface="Malgun Gothic" pitchFamily="34" charset="-122"/>
                <a:cs typeface="Malgun Gothic" pitchFamily="34" charset="-120"/>
              </a:rPr>
              <a:t>분석 조건으로 변환</a:t>
            </a:r>
            <a:endParaRPr lang="en-US" sz="1400" dirty="0"/>
          </a:p>
        </p:txBody>
      </p:sp>
      <p:sp>
        <p:nvSpPr>
          <p:cNvPr id="13" name="Text 10"/>
          <p:cNvSpPr txBox="1"/>
          <p:nvPr/>
        </p:nvSpPr>
        <p:spPr>
          <a:xfrm>
            <a:off x="594360" y="3703320"/>
            <a:ext cx="210312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지표 · 대상 · 정렬</a:t>
            </a:r>
            <a:endParaRPr lang="en-US" sz="1100" dirty="0"/>
          </a:p>
        </p:txBody>
      </p:sp>
      <p:sp>
        <p:nvSpPr>
          <p:cNvPr id="14" name="Text 11"/>
          <p:cNvSpPr txBox="1"/>
          <p:nvPr/>
        </p:nvSpPr>
        <p:spPr>
          <a:xfrm>
            <a:off x="2788920" y="32461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5" name="Shape 12"/>
          <p:cNvSpPr/>
          <p:nvPr/>
        </p:nvSpPr>
        <p:spPr>
          <a:xfrm>
            <a:off x="3383280" y="2788920"/>
            <a:ext cx="2377440" cy="1463040"/>
          </a:xfrm>
          <a:prstGeom prst="roundRect">
            <a:avLst>
              <a:gd name="adj" fmla="val 6250"/>
            </a:avLst>
          </a:prstGeom>
          <a:solidFill>
            <a:srgbClr val="F2F5F4"/>
          </a:solidFill>
          <a:ln w="6350">
            <a:solidFill>
              <a:srgbClr val="F2F5F4"/>
            </a:solidFill>
            <a:prstDash val="solid"/>
          </a:ln>
        </p:spPr>
      </p:sp>
      <p:sp>
        <p:nvSpPr>
          <p:cNvPr id="16" name="Text 13"/>
          <p:cNvSpPr txBox="1"/>
          <p:nvPr/>
        </p:nvSpPr>
        <p:spPr>
          <a:xfrm>
            <a:off x="3520440" y="2880360"/>
            <a:ext cx="2103120" cy="73152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서버가</a:t>
            </a:r>
            <a:endParaRPr lang="en-US" sz="1400" dirty="0"/>
          </a:p>
          <a:p>
            <a:pPr indent="0" marL="0">
              <a:buNone/>
            </a:pPr>
            <a:r>
              <a:rPr lang="en-US" sz="1400" b="1" dirty="0">
                <a:solidFill>
                  <a:srgbClr val="0E3B3B"/>
                </a:solidFill>
                <a:latin typeface="Malgun Gothic" pitchFamily="34" charset="0"/>
                <a:ea typeface="Malgun Gothic" pitchFamily="34" charset="-122"/>
                <a:cs typeface="Malgun Gothic" pitchFamily="34" charset="-120"/>
              </a:rPr>
              <a:t>조건을 검증</a:t>
            </a:r>
            <a:endParaRPr lang="en-US" sz="1400" dirty="0"/>
          </a:p>
        </p:txBody>
      </p:sp>
      <p:sp>
        <p:nvSpPr>
          <p:cNvPr id="17" name="Text 14"/>
          <p:cNvSpPr txBox="1"/>
          <p:nvPr/>
        </p:nvSpPr>
        <p:spPr>
          <a:xfrm>
            <a:off x="3520440" y="3703320"/>
            <a:ext cx="210312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지원하는 질문만 통과</a:t>
            </a:r>
            <a:endParaRPr lang="en-US" sz="1100" dirty="0"/>
          </a:p>
        </p:txBody>
      </p:sp>
      <p:sp>
        <p:nvSpPr>
          <p:cNvPr id="18" name="Text 15"/>
          <p:cNvSpPr txBox="1"/>
          <p:nvPr/>
        </p:nvSpPr>
        <p:spPr>
          <a:xfrm>
            <a:off x="5715000" y="32461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9" name="Shape 16"/>
          <p:cNvSpPr/>
          <p:nvPr/>
        </p:nvSpPr>
        <p:spPr>
          <a:xfrm>
            <a:off x="6309360" y="2788920"/>
            <a:ext cx="2377440" cy="1463040"/>
          </a:xfrm>
          <a:prstGeom prst="roundRect">
            <a:avLst>
              <a:gd name="adj" fmla="val 6250"/>
            </a:avLst>
          </a:prstGeom>
          <a:solidFill>
            <a:srgbClr val="F2F5F4"/>
          </a:solidFill>
          <a:ln w="6350">
            <a:solidFill>
              <a:srgbClr val="F2F5F4"/>
            </a:solidFill>
            <a:prstDash val="solid"/>
          </a:ln>
        </p:spPr>
      </p:sp>
      <p:sp>
        <p:nvSpPr>
          <p:cNvPr id="20" name="Text 17"/>
          <p:cNvSpPr txBox="1"/>
          <p:nvPr/>
        </p:nvSpPr>
        <p:spPr>
          <a:xfrm>
            <a:off x="6446520" y="2880360"/>
            <a:ext cx="2103120" cy="73152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코드(pandas)가</a:t>
            </a:r>
            <a:endParaRPr lang="en-US" sz="1400" dirty="0"/>
          </a:p>
          <a:p>
            <a:pPr indent="0" marL="0">
              <a:buNone/>
            </a:pPr>
            <a:r>
              <a:rPr lang="en-US" sz="1400" b="1" dirty="0">
                <a:solidFill>
                  <a:srgbClr val="0E3B3B"/>
                </a:solidFill>
                <a:latin typeface="Malgun Gothic" pitchFamily="34" charset="0"/>
                <a:ea typeface="Malgun Gothic" pitchFamily="34" charset="-122"/>
                <a:cs typeface="Malgun Gothic" pitchFamily="34" charset="-120"/>
              </a:rPr>
              <a:t>계산</a:t>
            </a:r>
            <a:endParaRPr lang="en-US" sz="1400" dirty="0"/>
          </a:p>
        </p:txBody>
      </p:sp>
      <p:sp>
        <p:nvSpPr>
          <p:cNvPr id="21" name="Text 18"/>
          <p:cNvSpPr txBox="1"/>
          <p:nvPr/>
        </p:nvSpPr>
        <p:spPr>
          <a:xfrm>
            <a:off x="6446520" y="3703320"/>
            <a:ext cx="210312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숫자는 AI가 만들지 않음</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D</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AI 신뢰성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여러 지표를 함께 보는 상품 진단도 지원한다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PRODUCT_DIAGNOSIS.md, #48 · 최신 월과 바로 전월 2개월 비교</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13 / 20</a:t>
            </a:r>
            <a:endParaRPr lang="en-US" sz="1000" dirty="0"/>
          </a:p>
        </p:txBody>
      </p:sp>
      <p:sp>
        <p:nvSpPr>
          <p:cNvPr id="9" name="Shape 6"/>
          <p:cNvSpPr/>
          <p:nvPr/>
        </p:nvSpPr>
        <p:spPr>
          <a:xfrm>
            <a:off x="457200" y="1828800"/>
            <a:ext cx="8229600" cy="548640"/>
          </a:xfrm>
          <a:prstGeom prst="roundRect">
            <a:avLst>
              <a:gd name="adj" fmla="val 16667"/>
            </a:avLst>
          </a:prstGeom>
          <a:solidFill>
            <a:srgbClr val="E6F2EF"/>
          </a:solidFill>
          <a:ln w="6350">
            <a:solidFill>
              <a:srgbClr val="E6F2EF"/>
            </a:solidFill>
            <a:prstDash val="solid"/>
          </a:ln>
        </p:spPr>
      </p:sp>
      <p:sp>
        <p:nvSpPr>
          <p:cNvPr id="10" name="Text 7"/>
          <p:cNvSpPr txBox="1"/>
          <p:nvPr/>
        </p:nvSpPr>
        <p:spPr>
          <a:xfrm>
            <a:off x="685800" y="1828800"/>
            <a:ext cx="7772400" cy="548640"/>
          </a:xfrm>
          <a:prstGeom prst="rect">
            <a:avLst/>
          </a:prstGeom>
          <a:noFill/>
          <a:ln/>
        </p:spPr>
        <p:txBody>
          <a:bodyPr wrap="square" lIns="0" tIns="0" rIns="0" bIns="0" rtlCol="0" anchor="ctr"/>
          <a:lstStyle/>
          <a:p>
            <a:pPr indent="0" marL="0">
              <a:buNone/>
            </a:pPr>
            <a:r>
              <a:rPr lang="en-US" sz="1500" dirty="0">
                <a:solidFill>
                  <a:srgbClr val="0E3B3B"/>
                </a:solidFill>
                <a:latin typeface="Malgun Gothic" pitchFamily="34" charset="0"/>
                <a:ea typeface="Malgun Gothic" pitchFamily="34" charset="-122"/>
                <a:cs typeface="Malgun Gothic" pitchFamily="34" charset="-120"/>
              </a:rPr>
              <a:t>“판매 추세로 볼 때 저평가된 상품은?”     “관리해야 할 상품은?”</a:t>
            </a:r>
            <a:endParaRPr lang="en-US" sz="1500" dirty="0"/>
          </a:p>
        </p:txBody>
      </p:sp>
      <p:sp>
        <p:nvSpPr>
          <p:cNvPr id="11" name="Shape 8"/>
          <p:cNvSpPr/>
          <p:nvPr/>
        </p:nvSpPr>
        <p:spPr>
          <a:xfrm>
            <a:off x="457200" y="2560320"/>
            <a:ext cx="2377440" cy="1234440"/>
          </a:xfrm>
          <a:prstGeom prst="roundRect">
            <a:avLst>
              <a:gd name="adj" fmla="val 7407"/>
            </a:avLst>
          </a:prstGeom>
          <a:solidFill>
            <a:srgbClr val="F2F5F4"/>
          </a:solidFill>
          <a:ln w="6350">
            <a:solidFill>
              <a:srgbClr val="F2F5F4"/>
            </a:solidFill>
            <a:prstDash val="solid"/>
          </a:ln>
        </p:spPr>
      </p:sp>
      <p:sp>
        <p:nvSpPr>
          <p:cNvPr id="12" name="Text 9"/>
          <p:cNvSpPr txBox="1"/>
          <p:nvPr/>
        </p:nvSpPr>
        <p:spPr>
          <a:xfrm>
            <a:off x="594360" y="2651760"/>
            <a:ext cx="2103120" cy="365760"/>
          </a:xfrm>
          <a:prstGeom prst="rect">
            <a:avLst/>
          </a:prstGeom>
          <a:noFill/>
          <a:ln/>
        </p:spPr>
        <p:txBody>
          <a:bodyPr wrap="square" lIns="0" tIns="0" rIns="0" bIns="0" rtlCol="0" anchor="t"/>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코드가 상품마다 계산</a:t>
            </a:r>
            <a:endParaRPr lang="en-US" sz="1300" dirty="0"/>
          </a:p>
        </p:txBody>
      </p:sp>
      <p:sp>
        <p:nvSpPr>
          <p:cNvPr id="13" name="Text 10"/>
          <p:cNvSpPr txBox="1"/>
          <p:nvPr/>
        </p:nvSpPr>
        <p:spPr>
          <a:xfrm>
            <a:off x="594360" y="3063240"/>
            <a:ext cx="2103120" cy="685800"/>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매출 · 주문 · 판매량 · 광고비 ·</a:t>
            </a:r>
            <a:endParaRPr lang="en-US" sz="1050" dirty="0"/>
          </a:p>
          <a:p>
            <a:pPr indent="0" marL="0">
              <a:buNone/>
            </a:pPr>
            <a:r>
              <a:rPr lang="en-US" sz="1050" dirty="0">
                <a:solidFill>
                  <a:srgbClr val="5B6B6B"/>
                </a:solidFill>
                <a:latin typeface="Malgun Gothic" pitchFamily="34" charset="0"/>
                <a:ea typeface="Malgun Gothic" pitchFamily="34" charset="-122"/>
                <a:cs typeface="Malgun Gothic" pitchFamily="34" charset="-120"/>
              </a:rPr>
              <a:t>광고매출 · 로아스, 최신 월 vs 전월</a:t>
            </a:r>
            <a:endParaRPr lang="en-US" sz="1050" dirty="0"/>
          </a:p>
        </p:txBody>
      </p:sp>
      <p:sp>
        <p:nvSpPr>
          <p:cNvPr id="14" name="Text 11"/>
          <p:cNvSpPr txBox="1"/>
          <p:nvPr/>
        </p:nvSpPr>
        <p:spPr>
          <a:xfrm>
            <a:off x="2788920" y="292608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5" name="Shape 12"/>
          <p:cNvSpPr/>
          <p:nvPr/>
        </p:nvSpPr>
        <p:spPr>
          <a:xfrm>
            <a:off x="3383280" y="2560320"/>
            <a:ext cx="2377440" cy="1234440"/>
          </a:xfrm>
          <a:prstGeom prst="roundRect">
            <a:avLst>
              <a:gd name="adj" fmla="val 7407"/>
            </a:avLst>
          </a:prstGeom>
          <a:solidFill>
            <a:srgbClr val="F2F5F4"/>
          </a:solidFill>
          <a:ln w="6350">
            <a:solidFill>
              <a:srgbClr val="F2F5F4"/>
            </a:solidFill>
            <a:prstDash val="solid"/>
          </a:ln>
        </p:spPr>
      </p:sp>
      <p:sp>
        <p:nvSpPr>
          <p:cNvPr id="16" name="Text 13"/>
          <p:cNvSpPr txBox="1"/>
          <p:nvPr/>
        </p:nvSpPr>
        <p:spPr>
          <a:xfrm>
            <a:off x="3520440" y="2651760"/>
            <a:ext cx="2103120" cy="365760"/>
          </a:xfrm>
          <a:prstGeom prst="rect">
            <a:avLst/>
          </a:prstGeom>
          <a:noFill/>
          <a:ln/>
        </p:spPr>
        <p:txBody>
          <a:bodyPr wrap="square" lIns="0" tIns="0" rIns="0" bIns="0" rtlCol="0" anchor="t"/>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점수와 순위로 후보 선정</a:t>
            </a:r>
            <a:endParaRPr lang="en-US" sz="1300" dirty="0"/>
          </a:p>
        </p:txBody>
      </p:sp>
      <p:sp>
        <p:nvSpPr>
          <p:cNvPr id="17" name="Text 14"/>
          <p:cNvSpPr txBox="1"/>
          <p:nvPr/>
        </p:nvSpPr>
        <p:spPr>
          <a:xfrm>
            <a:off x="3520440" y="3063240"/>
            <a:ext cx="2103120" cy="685800"/>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조건을 만족한 상품만</a:t>
            </a:r>
            <a:endParaRPr lang="en-US" sz="1050" dirty="0"/>
          </a:p>
          <a:p>
            <a:pPr indent="0" marL="0">
              <a:buNone/>
            </a:pPr>
            <a:r>
              <a:rPr lang="en-US" sz="1050" dirty="0">
                <a:solidFill>
                  <a:srgbClr val="5B6B6B"/>
                </a:solidFill>
                <a:latin typeface="Malgun Gothic" pitchFamily="34" charset="0"/>
                <a:ea typeface="Malgun Gothic" pitchFamily="34" charset="-122"/>
                <a:cs typeface="Malgun Gothic" pitchFamily="34" charset="-120"/>
              </a:rPr>
              <a:t>같은 입력이면 같은 결과</a:t>
            </a:r>
            <a:endParaRPr lang="en-US" sz="1050" dirty="0"/>
          </a:p>
        </p:txBody>
      </p:sp>
      <p:sp>
        <p:nvSpPr>
          <p:cNvPr id="18" name="Text 15"/>
          <p:cNvSpPr txBox="1"/>
          <p:nvPr/>
        </p:nvSpPr>
        <p:spPr>
          <a:xfrm>
            <a:off x="5715000" y="292608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9" name="Shape 16"/>
          <p:cNvSpPr/>
          <p:nvPr/>
        </p:nvSpPr>
        <p:spPr>
          <a:xfrm>
            <a:off x="6309360" y="2560320"/>
            <a:ext cx="2377440" cy="1234440"/>
          </a:xfrm>
          <a:prstGeom prst="roundRect">
            <a:avLst>
              <a:gd name="adj" fmla="val 7407"/>
            </a:avLst>
          </a:prstGeom>
          <a:solidFill>
            <a:srgbClr val="F2F5F4"/>
          </a:solidFill>
          <a:ln w="6350">
            <a:solidFill>
              <a:srgbClr val="F2F5F4"/>
            </a:solidFill>
            <a:prstDash val="solid"/>
          </a:ln>
        </p:spPr>
      </p:sp>
      <p:sp>
        <p:nvSpPr>
          <p:cNvPr id="20" name="Text 17"/>
          <p:cNvSpPr txBox="1"/>
          <p:nvPr/>
        </p:nvSpPr>
        <p:spPr>
          <a:xfrm>
            <a:off x="6446520" y="2651760"/>
            <a:ext cx="2103120" cy="365760"/>
          </a:xfrm>
          <a:prstGeom prst="rect">
            <a:avLst/>
          </a:prstGeom>
          <a:noFill/>
          <a:ln/>
        </p:spPr>
        <p:txBody>
          <a:bodyPr wrap="square" lIns="0" tIns="0" rIns="0" bIns="0" rtlCol="0" anchor="t"/>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계산된 근거만 설명</a:t>
            </a:r>
            <a:endParaRPr lang="en-US" sz="1300" dirty="0"/>
          </a:p>
        </p:txBody>
      </p:sp>
      <p:sp>
        <p:nvSpPr>
          <p:cNvPr id="21" name="Text 18"/>
          <p:cNvSpPr txBox="1"/>
          <p:nvPr/>
        </p:nvSpPr>
        <p:spPr>
          <a:xfrm>
            <a:off x="6446520" y="3063240"/>
            <a:ext cx="2103120" cy="685800"/>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서버가 만든 문장 (AI 호출 없음)</a:t>
            </a:r>
            <a:endParaRPr lang="en-US" sz="1050" dirty="0"/>
          </a:p>
          <a:p>
            <a:pPr indent="0" marL="0">
              <a:buNone/>
            </a:pPr>
            <a:r>
              <a:rPr lang="en-US" sz="1050" dirty="0">
                <a:solidFill>
                  <a:srgbClr val="5B6B6B"/>
                </a:solidFill>
                <a:latin typeface="Malgun Gothic" pitchFamily="34" charset="0"/>
                <a:ea typeface="Malgun Gothic" pitchFamily="34" charset="-122"/>
                <a:cs typeface="Malgun Gothic" pitchFamily="34" charset="-120"/>
              </a:rPr>
              <a:t>숫자·순위는 코드 결과</a:t>
            </a:r>
            <a:endParaRPr lang="en-US" sz="1050" dirty="0"/>
          </a:p>
        </p:txBody>
      </p:sp>
      <p:sp>
        <p:nvSpPr>
          <p:cNvPr id="22" name="Shape 19"/>
          <p:cNvSpPr/>
          <p:nvPr/>
        </p:nvSpPr>
        <p:spPr>
          <a:xfrm>
            <a:off x="457200" y="3931920"/>
            <a:ext cx="4023360" cy="457200"/>
          </a:xfrm>
          <a:prstGeom prst="roundRect">
            <a:avLst>
              <a:gd name="adj" fmla="val 20000"/>
            </a:avLst>
          </a:prstGeom>
          <a:solidFill>
            <a:srgbClr val="1F7A6D"/>
          </a:solidFill>
          <a:ln w="6350">
            <a:solidFill>
              <a:srgbClr val="1F7A6D"/>
            </a:solidFill>
            <a:prstDash val="solid"/>
          </a:ln>
        </p:spPr>
      </p:sp>
      <p:sp>
        <p:nvSpPr>
          <p:cNvPr id="23" name="Text 20"/>
          <p:cNvSpPr txBox="1"/>
          <p:nvPr/>
        </p:nvSpPr>
        <p:spPr>
          <a:xfrm>
            <a:off x="457200" y="3931920"/>
            <a:ext cx="40233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기회 상품 후보 — 매출·주문 증가 + 로아스 양호</a:t>
            </a:r>
            <a:endParaRPr lang="en-US" sz="1200" dirty="0"/>
          </a:p>
        </p:txBody>
      </p:sp>
      <p:sp>
        <p:nvSpPr>
          <p:cNvPr id="24" name="Shape 21"/>
          <p:cNvSpPr/>
          <p:nvPr/>
        </p:nvSpPr>
        <p:spPr>
          <a:xfrm>
            <a:off x="4663440" y="3931920"/>
            <a:ext cx="4023360" cy="457200"/>
          </a:xfrm>
          <a:prstGeom prst="roundRect">
            <a:avLst>
              <a:gd name="adj" fmla="val 20000"/>
            </a:avLst>
          </a:prstGeom>
          <a:solidFill>
            <a:srgbClr val="0E3B3B"/>
          </a:solidFill>
          <a:ln w="6350">
            <a:solidFill>
              <a:srgbClr val="0E3B3B"/>
            </a:solidFill>
            <a:prstDash val="solid"/>
          </a:ln>
        </p:spPr>
      </p:sp>
      <p:sp>
        <p:nvSpPr>
          <p:cNvPr id="25" name="Text 22"/>
          <p:cNvSpPr txBox="1"/>
          <p:nvPr/>
        </p:nvSpPr>
        <p:spPr>
          <a:xfrm>
            <a:off x="4663440" y="3931920"/>
            <a:ext cx="40233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관리 필요 상품 — 매출·주문 감소, 로아스 하락 등</a:t>
            </a:r>
            <a:endParaRPr lang="en-US" sz="1200" dirty="0"/>
          </a:p>
        </p:txBody>
      </p:sp>
      <p:sp>
        <p:nvSpPr>
          <p:cNvPr id="26" name="Text 23"/>
          <p:cNvSpPr txBox="1"/>
          <p:nvPr/>
        </p:nvSpPr>
        <p:spPr>
          <a:xfrm>
            <a:off x="457200" y="4453128"/>
            <a:ext cx="8229600" cy="201168"/>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‘저평가’는 시장가치 평가가 아니라, 현재 데이터에서 추가로 볼 가치가 있는 후보라는 뜻이에요.</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D</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AI 신뢰성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AI가 임의로 숫자를 만들지 못하게 했다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AI_RELIABILITY_IMPROVEMENTS.md, #18·#22 · AI 장애 표시는 AI 상태를 모의한 시험</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14 / 20</a:t>
            </a:r>
            <a:endParaRPr lang="en-US" sz="1000" dirty="0"/>
          </a:p>
        </p:txBody>
      </p:sp>
      <p:sp>
        <p:nvSpPr>
          <p:cNvPr id="9" name="Shape 6"/>
          <p:cNvSpPr/>
          <p:nvPr/>
        </p:nvSpPr>
        <p:spPr>
          <a:xfrm>
            <a:off x="457200" y="1828800"/>
            <a:ext cx="3383280" cy="2011680"/>
          </a:xfrm>
          <a:prstGeom prst="roundRect">
            <a:avLst>
              <a:gd name="adj" fmla="val 4545"/>
            </a:avLst>
          </a:prstGeom>
          <a:solidFill>
            <a:srgbClr val="0E3B3B"/>
          </a:solidFill>
          <a:ln w="6350">
            <a:solidFill>
              <a:srgbClr val="0E3B3B"/>
            </a:solidFill>
            <a:prstDash val="solid"/>
          </a:ln>
        </p:spPr>
      </p:sp>
      <p:sp>
        <p:nvSpPr>
          <p:cNvPr id="10" name="Text 7"/>
          <p:cNvSpPr txBox="1"/>
          <p:nvPr/>
        </p:nvSpPr>
        <p:spPr>
          <a:xfrm>
            <a:off x="640080" y="1938528"/>
            <a:ext cx="3017520" cy="1046074"/>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40 / 40</a:t>
            </a:r>
            <a:endParaRPr lang="en-US" sz="4400" dirty="0"/>
          </a:p>
        </p:txBody>
      </p:sp>
      <p:sp>
        <p:nvSpPr>
          <p:cNvPr id="11" name="Text 8"/>
          <p:cNvSpPr txBox="1"/>
          <p:nvPr/>
        </p:nvSpPr>
        <p:spPr>
          <a:xfrm>
            <a:off x="640080" y="3076042"/>
            <a:ext cx="3017520" cy="643738"/>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고정 질문 통과</a:t>
            </a:r>
            <a:endParaRPr lang="en-US" sz="1200" dirty="0"/>
          </a:p>
          <a:p>
            <a:pPr indent="0" marL="0">
              <a:buNone/>
            </a:pPr>
            <a:r>
              <a:rPr lang="en-US" sz="1200" dirty="0">
                <a:solidFill>
                  <a:srgbClr val="BFD8D2"/>
                </a:solidFill>
                <a:latin typeface="Malgun Gothic" pitchFamily="34" charset="0"/>
                <a:ea typeface="Malgun Gothic" pitchFamily="34" charset="-122"/>
                <a:cs typeface="Malgun Gothic" pitchFamily="34" charset="-120"/>
              </a:rPr>
              <a:t>(지원 26 · 미지원 14)</a:t>
            </a:r>
            <a:endParaRPr lang="en-US" sz="1200" dirty="0"/>
          </a:p>
        </p:txBody>
      </p:sp>
      <p:sp>
        <p:nvSpPr>
          <p:cNvPr id="12" name="Text 9"/>
          <p:cNvSpPr txBox="1"/>
          <p:nvPr/>
        </p:nvSpPr>
        <p:spPr>
          <a:xfrm>
            <a:off x="457200" y="4023360"/>
            <a:ext cx="338328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모든 질문에 항상 정확하다는 뜻은 아닙니다</a:t>
            </a:r>
            <a:endParaRPr lang="en-US" sz="1100" dirty="0"/>
          </a:p>
        </p:txBody>
      </p:sp>
      <p:sp>
        <p:nvSpPr>
          <p:cNvPr id="13" name="Shape 10"/>
          <p:cNvSpPr/>
          <p:nvPr/>
        </p:nvSpPr>
        <p:spPr>
          <a:xfrm>
            <a:off x="4352544" y="2121408"/>
            <a:ext cx="146304" cy="146304"/>
          </a:xfrm>
          <a:prstGeom prst="ellipse">
            <a:avLst/>
          </a:prstGeom>
          <a:solidFill>
            <a:srgbClr val="1F7A6D"/>
          </a:solidFill>
          <a:ln w="6350">
            <a:solidFill>
              <a:srgbClr val="1F7A6D"/>
            </a:solidFill>
            <a:prstDash val="solid"/>
          </a:ln>
        </p:spPr>
      </p:sp>
      <p:sp>
        <p:nvSpPr>
          <p:cNvPr id="14" name="Text 11"/>
          <p:cNvSpPr txBox="1"/>
          <p:nvPr/>
        </p:nvSpPr>
        <p:spPr>
          <a:xfrm>
            <a:off x="4352544" y="2121408"/>
            <a:ext cx="146304" cy="146304"/>
          </a:xfrm>
          <a:prstGeom prst="rect">
            <a:avLst/>
          </a:prstGeom>
          <a:noFill/>
          <a:ln/>
        </p:spPr>
        <p:txBody>
          <a:bodyPr wrap="square" lIns="0" tIns="0" rIns="0" bIns="0" rtlCol="0" anchor="ctr"/>
          <a:lstStyle/>
          <a:p>
            <a:pPr algn="ctr" indent="0" marL="0">
              <a:buNone/>
            </a:pPr>
            <a:endParaRPr lang="en-US" sz="800" dirty="0"/>
          </a:p>
        </p:txBody>
      </p:sp>
      <p:sp>
        <p:nvSpPr>
          <p:cNvPr id="15" name="Text 12"/>
          <p:cNvSpPr txBox="1"/>
          <p:nvPr/>
        </p:nvSpPr>
        <p:spPr>
          <a:xfrm>
            <a:off x="4663440" y="1828800"/>
            <a:ext cx="4023360" cy="7315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순위·점수·수치는 코드가 계산하고,</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서버가 근거를 확인한다</a:t>
            </a:r>
            <a:endParaRPr lang="en-US" sz="1300" dirty="0"/>
          </a:p>
        </p:txBody>
      </p:sp>
      <p:sp>
        <p:nvSpPr>
          <p:cNvPr id="16" name="Shape 13"/>
          <p:cNvSpPr/>
          <p:nvPr/>
        </p:nvSpPr>
        <p:spPr>
          <a:xfrm>
            <a:off x="4352544" y="2944368"/>
            <a:ext cx="146304" cy="146304"/>
          </a:xfrm>
          <a:prstGeom prst="ellipse">
            <a:avLst/>
          </a:prstGeom>
          <a:solidFill>
            <a:srgbClr val="1F7A6D"/>
          </a:solidFill>
          <a:ln w="6350">
            <a:solidFill>
              <a:srgbClr val="1F7A6D"/>
            </a:solidFill>
            <a:prstDash val="solid"/>
          </a:ln>
        </p:spPr>
      </p:sp>
      <p:sp>
        <p:nvSpPr>
          <p:cNvPr id="17" name="Text 14"/>
          <p:cNvSpPr txBox="1"/>
          <p:nvPr/>
        </p:nvSpPr>
        <p:spPr>
          <a:xfrm>
            <a:off x="4352544" y="2944368"/>
            <a:ext cx="146304" cy="146304"/>
          </a:xfrm>
          <a:prstGeom prst="rect">
            <a:avLst/>
          </a:prstGeom>
          <a:noFill/>
          <a:ln/>
        </p:spPr>
        <p:txBody>
          <a:bodyPr wrap="square" lIns="0" tIns="0" rIns="0" bIns="0" rtlCol="0" anchor="ctr"/>
          <a:lstStyle/>
          <a:p>
            <a:pPr algn="ctr" indent="0" marL="0">
              <a:buNone/>
            </a:pPr>
            <a:endParaRPr lang="en-US" sz="800" dirty="0"/>
          </a:p>
        </p:txBody>
      </p:sp>
      <p:sp>
        <p:nvSpPr>
          <p:cNvPr id="18" name="Text 15"/>
          <p:cNvSpPr txBox="1"/>
          <p:nvPr/>
        </p:nvSpPr>
        <p:spPr>
          <a:xfrm>
            <a:off x="4663440" y="2651760"/>
            <a:ext cx="4023360" cy="7315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근거·확인할 항목·다음 행동으로 나눠 설명하고,</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데이터에 없는 원인은 단정하지 않는다</a:t>
            </a:r>
            <a:endParaRPr lang="en-US" sz="1300" dirty="0"/>
          </a:p>
        </p:txBody>
      </p:sp>
      <p:sp>
        <p:nvSpPr>
          <p:cNvPr id="19" name="Shape 16"/>
          <p:cNvSpPr/>
          <p:nvPr/>
        </p:nvSpPr>
        <p:spPr>
          <a:xfrm>
            <a:off x="4352544" y="3653028"/>
            <a:ext cx="146304" cy="146304"/>
          </a:xfrm>
          <a:prstGeom prst="ellipse">
            <a:avLst/>
          </a:prstGeom>
          <a:solidFill>
            <a:srgbClr val="1F7A6D"/>
          </a:solidFill>
          <a:ln w="6350">
            <a:solidFill>
              <a:srgbClr val="1F7A6D"/>
            </a:solidFill>
            <a:prstDash val="solid"/>
          </a:ln>
        </p:spPr>
      </p:sp>
      <p:sp>
        <p:nvSpPr>
          <p:cNvPr id="20" name="Text 17"/>
          <p:cNvSpPr txBox="1"/>
          <p:nvPr/>
        </p:nvSpPr>
        <p:spPr>
          <a:xfrm>
            <a:off x="4352544" y="3653028"/>
            <a:ext cx="146304" cy="146304"/>
          </a:xfrm>
          <a:prstGeom prst="rect">
            <a:avLst/>
          </a:prstGeom>
          <a:noFill/>
          <a:ln/>
        </p:spPr>
        <p:txBody>
          <a:bodyPr wrap="square" lIns="0" tIns="0" rIns="0" bIns="0" rtlCol="0" anchor="ctr"/>
          <a:lstStyle/>
          <a:p>
            <a:pPr algn="ctr" indent="0" marL="0">
              <a:buNone/>
            </a:pPr>
            <a:endParaRPr lang="en-US" sz="800" dirty="0"/>
          </a:p>
        </p:txBody>
      </p:sp>
      <p:sp>
        <p:nvSpPr>
          <p:cNvPr id="21" name="Text 18"/>
          <p:cNvSpPr txBox="1"/>
          <p:nvPr/>
        </p:nvSpPr>
        <p:spPr>
          <a:xfrm>
            <a:off x="4663440" y="3474720"/>
            <a:ext cx="4023360" cy="5029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지원하지 않는 질문은 안내한다</a:t>
            </a:r>
            <a:endParaRPr lang="en-US" sz="1300" dirty="0"/>
          </a:p>
        </p:txBody>
      </p:sp>
      <p:sp>
        <p:nvSpPr>
          <p:cNvPr id="22" name="Shape 19"/>
          <p:cNvSpPr/>
          <p:nvPr/>
        </p:nvSpPr>
        <p:spPr>
          <a:xfrm>
            <a:off x="4352544" y="4201668"/>
            <a:ext cx="146304" cy="146304"/>
          </a:xfrm>
          <a:prstGeom prst="ellipse">
            <a:avLst/>
          </a:prstGeom>
          <a:solidFill>
            <a:srgbClr val="1F7A6D"/>
          </a:solidFill>
          <a:ln w="6350">
            <a:solidFill>
              <a:srgbClr val="1F7A6D"/>
            </a:solidFill>
            <a:prstDash val="solid"/>
          </a:ln>
        </p:spPr>
      </p:sp>
      <p:sp>
        <p:nvSpPr>
          <p:cNvPr id="23" name="Text 20"/>
          <p:cNvSpPr txBox="1"/>
          <p:nvPr/>
        </p:nvSpPr>
        <p:spPr>
          <a:xfrm>
            <a:off x="4352544" y="4201668"/>
            <a:ext cx="146304" cy="146304"/>
          </a:xfrm>
          <a:prstGeom prst="rect">
            <a:avLst/>
          </a:prstGeom>
          <a:noFill/>
          <a:ln/>
        </p:spPr>
        <p:txBody>
          <a:bodyPr wrap="square" lIns="0" tIns="0" rIns="0" bIns="0" rtlCol="0" anchor="ctr"/>
          <a:lstStyle/>
          <a:p>
            <a:pPr algn="ctr" indent="0" marL="0">
              <a:buNone/>
            </a:pPr>
            <a:endParaRPr lang="en-US" sz="800" dirty="0"/>
          </a:p>
        </p:txBody>
      </p:sp>
      <p:sp>
        <p:nvSpPr>
          <p:cNvPr id="24" name="Text 21"/>
          <p:cNvSpPr txBox="1"/>
          <p:nvPr/>
        </p:nvSpPr>
        <p:spPr>
          <a:xfrm>
            <a:off x="4663440" y="4023360"/>
            <a:ext cx="4023360" cy="5029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AI가 실패해도 KPI·차트는 그대로</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시연</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시연: 올리고, 묻고, 틀린 파일도 올려 본다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시연 파일: C:\Users\alshf\시연파일\ · 새로 고침 대신 탭 전환 (Ctrl+1/2/3)</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15 / 20</a:t>
            </a:r>
            <a:endParaRPr lang="en-US" sz="1000" dirty="0"/>
          </a:p>
        </p:txBody>
      </p:sp>
      <p:sp>
        <p:nvSpPr>
          <p:cNvPr id="7" name="Shape 4"/>
          <p:cNvSpPr/>
          <p:nvPr/>
        </p:nvSpPr>
        <p:spPr>
          <a:xfrm>
            <a:off x="457200" y="1783080"/>
            <a:ext cx="8229600" cy="603504"/>
          </a:xfrm>
          <a:prstGeom prst="roundRect">
            <a:avLst>
              <a:gd name="adj" fmla="val 15152"/>
            </a:avLst>
          </a:prstGeom>
          <a:solidFill>
            <a:srgbClr val="F2F5F4"/>
          </a:solidFill>
          <a:ln w="6350">
            <a:solidFill>
              <a:srgbClr val="F2F5F4"/>
            </a:solidFill>
            <a:prstDash val="solid"/>
          </a:ln>
        </p:spPr>
      </p:sp>
      <p:sp>
        <p:nvSpPr>
          <p:cNvPr id="8" name="Shape 5"/>
          <p:cNvSpPr/>
          <p:nvPr/>
        </p:nvSpPr>
        <p:spPr>
          <a:xfrm>
            <a:off x="640080" y="1920240"/>
            <a:ext cx="329184" cy="329184"/>
          </a:xfrm>
          <a:prstGeom prst="ellipse">
            <a:avLst/>
          </a:prstGeom>
          <a:solidFill>
            <a:srgbClr val="1F7A6D"/>
          </a:solidFill>
          <a:ln w="6350">
            <a:solidFill>
              <a:srgbClr val="1F7A6D"/>
            </a:solidFill>
            <a:prstDash val="solid"/>
          </a:ln>
        </p:spPr>
      </p:sp>
      <p:sp>
        <p:nvSpPr>
          <p:cNvPr id="9" name="Text 6"/>
          <p:cNvSpPr txBox="1"/>
          <p:nvPr/>
        </p:nvSpPr>
        <p:spPr>
          <a:xfrm>
            <a:off x="640080" y="19202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10" name="Text 7"/>
          <p:cNvSpPr txBox="1"/>
          <p:nvPr/>
        </p:nvSpPr>
        <p:spPr>
          <a:xfrm>
            <a:off x="1188720" y="17830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A  </a:t>
            </a:r>
            <a:pPr indent="0" marL="0">
              <a:buNone/>
            </a:pPr>
            <a:r>
              <a:rPr lang="en-US" sz="1300" dirty="0">
                <a:solidFill>
                  <a:srgbClr val="1B2B2B"/>
                </a:solidFill>
                <a:latin typeface="Malgun Gothic" pitchFamily="34" charset="0"/>
                <a:ea typeface="Malgun Gothic" pitchFamily="34" charset="-122"/>
                <a:cs typeface="Malgun Gothic" pitchFamily="34" charset="-120"/>
              </a:rPr>
              <a:t>정상 파일 4개 업로드 → 분석 → 간단보기 → 자세히보기</a:t>
            </a:r>
            <a:endParaRPr lang="en-US" sz="1300" dirty="0"/>
          </a:p>
        </p:txBody>
      </p:sp>
      <p:sp>
        <p:nvSpPr>
          <p:cNvPr id="11" name="Text 8"/>
          <p:cNvSpPr txBox="1"/>
          <p:nvPr/>
        </p:nvSpPr>
        <p:spPr>
          <a:xfrm>
            <a:off x="7498080" y="17830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50초</a:t>
            </a:r>
            <a:endParaRPr lang="en-US" sz="1200" dirty="0"/>
          </a:p>
        </p:txBody>
      </p:sp>
      <p:sp>
        <p:nvSpPr>
          <p:cNvPr id="12" name="Shape 9"/>
          <p:cNvSpPr/>
          <p:nvPr/>
        </p:nvSpPr>
        <p:spPr>
          <a:xfrm>
            <a:off x="457200" y="2468880"/>
            <a:ext cx="8229600" cy="603504"/>
          </a:xfrm>
          <a:prstGeom prst="roundRect">
            <a:avLst>
              <a:gd name="adj" fmla="val 15152"/>
            </a:avLst>
          </a:prstGeom>
          <a:solidFill>
            <a:srgbClr val="F2F5F4"/>
          </a:solidFill>
          <a:ln w="6350">
            <a:solidFill>
              <a:srgbClr val="F2F5F4"/>
            </a:solidFill>
            <a:prstDash val="solid"/>
          </a:ln>
        </p:spPr>
      </p:sp>
      <p:sp>
        <p:nvSpPr>
          <p:cNvPr id="13" name="Shape 10"/>
          <p:cNvSpPr/>
          <p:nvPr/>
        </p:nvSpPr>
        <p:spPr>
          <a:xfrm>
            <a:off x="640080" y="2606040"/>
            <a:ext cx="329184" cy="329184"/>
          </a:xfrm>
          <a:prstGeom prst="ellipse">
            <a:avLst/>
          </a:prstGeom>
          <a:solidFill>
            <a:srgbClr val="1F7A6D"/>
          </a:solidFill>
          <a:ln w="6350">
            <a:solidFill>
              <a:srgbClr val="1F7A6D"/>
            </a:solidFill>
            <a:prstDash val="solid"/>
          </a:ln>
        </p:spPr>
      </p:sp>
      <p:sp>
        <p:nvSpPr>
          <p:cNvPr id="14" name="Text 11"/>
          <p:cNvSpPr txBox="1"/>
          <p:nvPr/>
        </p:nvSpPr>
        <p:spPr>
          <a:xfrm>
            <a:off x="640080" y="26060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5" name="Text 12"/>
          <p:cNvSpPr txBox="1"/>
          <p:nvPr/>
        </p:nvSpPr>
        <p:spPr>
          <a:xfrm>
            <a:off x="1188720" y="24688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D  </a:t>
            </a:r>
            <a:pPr indent="0" marL="0">
              <a:buNone/>
            </a:pPr>
            <a:r>
              <a:rPr lang="en-US" sz="1300" dirty="0">
                <a:solidFill>
                  <a:srgbClr val="1B2B2B"/>
                </a:solidFill>
                <a:latin typeface="Malgun Gothic" pitchFamily="34" charset="0"/>
                <a:ea typeface="Malgun Gothic" pitchFamily="34" charset="-122"/>
                <a:cs typeface="Malgun Gothic" pitchFamily="34" charset="-120"/>
              </a:rPr>
              <a:t>우측 하단 “AI 물어보기” → “광고 효율이 가장 안 좋은 플랫폼 어디야?”</a:t>
            </a:r>
            <a:endParaRPr lang="en-US" sz="1300" dirty="0"/>
          </a:p>
        </p:txBody>
      </p:sp>
      <p:sp>
        <p:nvSpPr>
          <p:cNvPr id="16" name="Text 13"/>
          <p:cNvSpPr txBox="1"/>
          <p:nvPr/>
        </p:nvSpPr>
        <p:spPr>
          <a:xfrm>
            <a:off x="7498080" y="24688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1분</a:t>
            </a:r>
            <a:endParaRPr lang="en-US" sz="1200" dirty="0"/>
          </a:p>
        </p:txBody>
      </p:sp>
      <p:sp>
        <p:nvSpPr>
          <p:cNvPr id="17" name="Shape 14"/>
          <p:cNvSpPr/>
          <p:nvPr/>
        </p:nvSpPr>
        <p:spPr>
          <a:xfrm>
            <a:off x="457200" y="3154680"/>
            <a:ext cx="8229600" cy="603504"/>
          </a:xfrm>
          <a:prstGeom prst="roundRect">
            <a:avLst>
              <a:gd name="adj" fmla="val 15152"/>
            </a:avLst>
          </a:prstGeom>
          <a:solidFill>
            <a:srgbClr val="F2F5F4"/>
          </a:solidFill>
          <a:ln w="6350">
            <a:solidFill>
              <a:srgbClr val="F2F5F4"/>
            </a:solidFill>
            <a:prstDash val="solid"/>
          </a:ln>
        </p:spPr>
      </p:sp>
      <p:sp>
        <p:nvSpPr>
          <p:cNvPr id="18" name="Shape 15"/>
          <p:cNvSpPr/>
          <p:nvPr/>
        </p:nvSpPr>
        <p:spPr>
          <a:xfrm>
            <a:off x="640080" y="3291840"/>
            <a:ext cx="329184" cy="329184"/>
          </a:xfrm>
          <a:prstGeom prst="ellipse">
            <a:avLst/>
          </a:prstGeom>
          <a:solidFill>
            <a:srgbClr val="1F7A6D"/>
          </a:solidFill>
          <a:ln w="6350">
            <a:solidFill>
              <a:srgbClr val="1F7A6D"/>
            </a:solidFill>
            <a:prstDash val="solid"/>
          </a:ln>
        </p:spPr>
      </p:sp>
      <p:sp>
        <p:nvSpPr>
          <p:cNvPr id="19" name="Text 16"/>
          <p:cNvSpPr txBox="1"/>
          <p:nvPr/>
        </p:nvSpPr>
        <p:spPr>
          <a:xfrm>
            <a:off x="640080" y="32918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20" name="Text 17"/>
          <p:cNvSpPr txBox="1"/>
          <p:nvPr/>
        </p:nvSpPr>
        <p:spPr>
          <a:xfrm>
            <a:off x="1188720" y="31546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C  </a:t>
            </a:r>
            <a:pPr indent="0" marL="0">
              <a:buNone/>
            </a:pPr>
            <a:r>
              <a:rPr lang="en-US" sz="1300" dirty="0">
                <a:solidFill>
                  <a:srgbClr val="1B2B2B"/>
                </a:solidFill>
                <a:latin typeface="Malgun Gothic" pitchFamily="34" charset="0"/>
                <a:ea typeface="Malgun Gothic" pitchFamily="34" charset="-122"/>
                <a:cs typeface="Malgun Gothic" pitchFamily="34" charset="-120"/>
              </a:rPr>
              <a:t>탭2로 전환 → 컬럼이 빠진 파일 → 안내 문구</a:t>
            </a:r>
            <a:endParaRPr lang="en-US" sz="1300" dirty="0"/>
          </a:p>
        </p:txBody>
      </p:sp>
      <p:sp>
        <p:nvSpPr>
          <p:cNvPr id="21" name="Text 18"/>
          <p:cNvSpPr txBox="1"/>
          <p:nvPr/>
        </p:nvSpPr>
        <p:spPr>
          <a:xfrm>
            <a:off x="7498080" y="31546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30초</a:t>
            </a:r>
            <a:endParaRPr lang="en-US" sz="1200" dirty="0"/>
          </a:p>
        </p:txBody>
      </p:sp>
      <p:sp>
        <p:nvSpPr>
          <p:cNvPr id="22" name="Shape 19"/>
          <p:cNvSpPr/>
          <p:nvPr/>
        </p:nvSpPr>
        <p:spPr>
          <a:xfrm>
            <a:off x="457200" y="3840480"/>
            <a:ext cx="8229600" cy="603504"/>
          </a:xfrm>
          <a:prstGeom prst="roundRect">
            <a:avLst>
              <a:gd name="adj" fmla="val 15152"/>
            </a:avLst>
          </a:prstGeom>
          <a:solidFill>
            <a:srgbClr val="E6F2EF"/>
          </a:solidFill>
          <a:ln w="6350">
            <a:solidFill>
              <a:srgbClr val="E6F2EF"/>
            </a:solidFill>
            <a:prstDash val="solid"/>
          </a:ln>
        </p:spPr>
      </p:sp>
      <p:sp>
        <p:nvSpPr>
          <p:cNvPr id="23" name="Shape 20"/>
          <p:cNvSpPr/>
          <p:nvPr/>
        </p:nvSpPr>
        <p:spPr>
          <a:xfrm>
            <a:off x="640080" y="3977640"/>
            <a:ext cx="329184" cy="329184"/>
          </a:xfrm>
          <a:prstGeom prst="ellipse">
            <a:avLst/>
          </a:prstGeom>
          <a:solidFill>
            <a:srgbClr val="1F7A6D"/>
          </a:solidFill>
          <a:ln w="6350">
            <a:solidFill>
              <a:srgbClr val="1F7A6D"/>
            </a:solidFill>
            <a:prstDash val="solid"/>
          </a:ln>
        </p:spPr>
      </p:sp>
      <p:sp>
        <p:nvSpPr>
          <p:cNvPr id="24" name="Text 21"/>
          <p:cNvSpPr txBox="1"/>
          <p:nvPr/>
        </p:nvSpPr>
        <p:spPr>
          <a:xfrm>
            <a:off x="640080" y="39776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25" name="Text 22"/>
          <p:cNvSpPr txBox="1"/>
          <p:nvPr/>
        </p:nvSpPr>
        <p:spPr>
          <a:xfrm>
            <a:off x="1188720" y="38404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C  </a:t>
            </a:r>
            <a:pPr indent="0" marL="0">
              <a:buNone/>
            </a:pPr>
            <a:r>
              <a:rPr lang="en-US" sz="1300" dirty="0">
                <a:solidFill>
                  <a:srgbClr val="1B2B2B"/>
                </a:solidFill>
                <a:latin typeface="Malgun Gothic" pitchFamily="34" charset="0"/>
                <a:ea typeface="Malgun Gothic" pitchFamily="34" charset="-122"/>
                <a:cs typeface="Malgun Gothic" pitchFamily="34" charset="-120"/>
              </a:rPr>
              <a:t>탭3으로 전환 → 실제 내보내기 4개 + 월 선택</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 쿠팡 ROAS 551.8% (14일 기준) · 네이버 357.9%</a:t>
            </a:r>
            <a:endParaRPr lang="en-US" sz="1300" dirty="0"/>
          </a:p>
        </p:txBody>
      </p:sp>
      <p:sp>
        <p:nvSpPr>
          <p:cNvPr id="26" name="Text 23"/>
          <p:cNvSpPr txBox="1"/>
          <p:nvPr/>
        </p:nvSpPr>
        <p:spPr>
          <a:xfrm>
            <a:off x="7498080" y="38404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1분</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협업 과정</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작은 PR로 나눠 올리고 5일간 하나로 이었다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4인 역할·협업 문서, B.md · 10/1 오후 기준(발표 전 다시 확인) · PR 없이 main에 올린 커밋 10개 별도</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16 / 20</a:t>
            </a:r>
            <a:endParaRPr lang="en-US" sz="1000" dirty="0"/>
          </a:p>
        </p:txBody>
      </p:sp>
      <p:sp>
        <p:nvSpPr>
          <p:cNvPr id="7" name="Shape 4"/>
          <p:cNvSpPr/>
          <p:nvPr/>
        </p:nvSpPr>
        <p:spPr>
          <a:xfrm>
            <a:off x="457200" y="1828800"/>
            <a:ext cx="2834640" cy="1234440"/>
          </a:xfrm>
          <a:prstGeom prst="roundRect">
            <a:avLst>
              <a:gd name="adj" fmla="val 7407"/>
            </a:avLst>
          </a:prstGeom>
          <a:solidFill>
            <a:srgbClr val="E6F2EF"/>
          </a:solidFill>
          <a:ln w="6350">
            <a:solidFill>
              <a:srgbClr val="E6F2EF"/>
            </a:solidFill>
            <a:prstDash val="solid"/>
          </a:ln>
        </p:spPr>
      </p:sp>
      <p:sp>
        <p:nvSpPr>
          <p:cNvPr id="8" name="Text 5"/>
          <p:cNvSpPr txBox="1"/>
          <p:nvPr/>
        </p:nvSpPr>
        <p:spPr>
          <a:xfrm>
            <a:off x="640080" y="1938528"/>
            <a:ext cx="2468880" cy="641909"/>
          </a:xfrm>
          <a:prstGeom prst="rect">
            <a:avLst/>
          </a:prstGeom>
          <a:noFill/>
          <a:ln/>
        </p:spPr>
        <p:txBody>
          <a:bodyPr wrap="square" lIns="0" tIns="0" rIns="0" bIns="0" rtlCol="0" anchor="ctr"/>
          <a:lstStyle/>
          <a:p>
            <a:pPr indent="0" marL="0">
              <a:buNone/>
            </a:pPr>
            <a:r>
              <a:rPr lang="en-US" sz="4000" b="1" dirty="0">
                <a:solidFill>
                  <a:srgbClr val="0E3B3B"/>
                </a:solidFill>
                <a:latin typeface="Malgun Gothic" pitchFamily="34" charset="0"/>
                <a:ea typeface="Malgun Gothic" pitchFamily="34" charset="-122"/>
                <a:cs typeface="Malgun Gothic" pitchFamily="34" charset="-120"/>
              </a:rPr>
              <a:t>46개</a:t>
            </a:r>
            <a:endParaRPr lang="en-US" sz="4000" dirty="0"/>
          </a:p>
        </p:txBody>
      </p:sp>
      <p:sp>
        <p:nvSpPr>
          <p:cNvPr id="9" name="Text 6"/>
          <p:cNvSpPr txBox="1"/>
          <p:nvPr/>
        </p:nvSpPr>
        <p:spPr>
          <a:xfrm>
            <a:off x="640080" y="2594153"/>
            <a:ext cx="2468880" cy="395021"/>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머지한 PR · 팀원 승인 31개</a:t>
            </a:r>
            <a:endParaRPr lang="en-US" sz="1200" dirty="0"/>
          </a:p>
        </p:txBody>
      </p:sp>
      <p:sp>
        <p:nvSpPr>
          <p:cNvPr id="10" name="Shape 7"/>
          <p:cNvSpPr/>
          <p:nvPr/>
        </p:nvSpPr>
        <p:spPr>
          <a:xfrm>
            <a:off x="457200" y="3200400"/>
            <a:ext cx="2834640" cy="1234440"/>
          </a:xfrm>
          <a:prstGeom prst="roundRect">
            <a:avLst>
              <a:gd name="adj" fmla="val 7407"/>
            </a:avLst>
          </a:prstGeom>
          <a:solidFill>
            <a:srgbClr val="0E3B3B"/>
          </a:solidFill>
          <a:ln w="6350">
            <a:solidFill>
              <a:srgbClr val="0E3B3B"/>
            </a:solidFill>
            <a:prstDash val="solid"/>
          </a:ln>
        </p:spPr>
      </p:sp>
      <p:sp>
        <p:nvSpPr>
          <p:cNvPr id="11" name="Text 8"/>
          <p:cNvSpPr txBox="1"/>
          <p:nvPr/>
        </p:nvSpPr>
        <p:spPr>
          <a:xfrm>
            <a:off x="640080" y="3310128"/>
            <a:ext cx="2468880" cy="641909"/>
          </a:xfrm>
          <a:prstGeom prst="rect">
            <a:avLst/>
          </a:prstGeom>
          <a:noFill/>
          <a:ln/>
        </p:spPr>
        <p:txBody>
          <a:bodyPr wrap="square" lIns="0" tIns="0" rIns="0" bIns="0"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5일</a:t>
            </a:r>
            <a:endParaRPr lang="en-US" sz="4000" dirty="0"/>
          </a:p>
        </p:txBody>
      </p:sp>
      <p:sp>
        <p:nvSpPr>
          <p:cNvPr id="12" name="Text 9"/>
          <p:cNvSpPr txBox="1"/>
          <p:nvPr/>
        </p:nvSpPr>
        <p:spPr>
          <a:xfrm>
            <a:off x="640080" y="3965753"/>
            <a:ext cx="2468880" cy="395021"/>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9/28 기획 → 10/2 제출</a:t>
            </a:r>
            <a:endParaRPr lang="en-US" sz="1200" dirty="0"/>
          </a:p>
        </p:txBody>
      </p:sp>
      <p:sp>
        <p:nvSpPr>
          <p:cNvPr id="13" name="Shape 10"/>
          <p:cNvSpPr/>
          <p:nvPr/>
        </p:nvSpPr>
        <p:spPr>
          <a:xfrm>
            <a:off x="3712464" y="2057400"/>
            <a:ext cx="146304" cy="146304"/>
          </a:xfrm>
          <a:prstGeom prst="ellipse">
            <a:avLst/>
          </a:prstGeom>
          <a:solidFill>
            <a:srgbClr val="1F7A6D"/>
          </a:solidFill>
          <a:ln w="6350">
            <a:solidFill>
              <a:srgbClr val="1F7A6D"/>
            </a:solidFill>
            <a:prstDash val="solid"/>
          </a:ln>
        </p:spPr>
      </p:sp>
      <p:sp>
        <p:nvSpPr>
          <p:cNvPr id="14" name="Text 11"/>
          <p:cNvSpPr txBox="1"/>
          <p:nvPr/>
        </p:nvSpPr>
        <p:spPr>
          <a:xfrm>
            <a:off x="3712464" y="2057400"/>
            <a:ext cx="146304" cy="146304"/>
          </a:xfrm>
          <a:prstGeom prst="rect">
            <a:avLst/>
          </a:prstGeom>
          <a:noFill/>
          <a:ln/>
        </p:spPr>
        <p:txBody>
          <a:bodyPr wrap="square" lIns="0" tIns="0" rIns="0" bIns="0" rtlCol="0" anchor="ctr"/>
          <a:lstStyle/>
          <a:p>
            <a:pPr algn="ctr" indent="0" marL="0">
              <a:buNone/>
            </a:pPr>
            <a:endParaRPr lang="en-US" sz="800" dirty="0"/>
          </a:p>
        </p:txBody>
      </p:sp>
      <p:sp>
        <p:nvSpPr>
          <p:cNvPr id="15" name="Text 12"/>
          <p:cNvSpPr txBox="1"/>
          <p:nvPr/>
        </p:nvSpPr>
        <p:spPr>
          <a:xfrm>
            <a:off x="4023360" y="1828800"/>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작업마다 브랜치를 만들고 PR로 합치기</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(원칙: main 직접 수정 금지)</a:t>
            </a:r>
            <a:endParaRPr lang="en-US" sz="1300" dirty="0"/>
          </a:p>
        </p:txBody>
      </p:sp>
      <p:sp>
        <p:nvSpPr>
          <p:cNvPr id="16" name="Shape 13"/>
          <p:cNvSpPr/>
          <p:nvPr/>
        </p:nvSpPr>
        <p:spPr>
          <a:xfrm>
            <a:off x="3712464" y="2715768"/>
            <a:ext cx="146304" cy="146304"/>
          </a:xfrm>
          <a:prstGeom prst="ellipse">
            <a:avLst/>
          </a:prstGeom>
          <a:solidFill>
            <a:srgbClr val="1F7A6D"/>
          </a:solidFill>
          <a:ln w="6350">
            <a:solidFill>
              <a:srgbClr val="1F7A6D"/>
            </a:solidFill>
            <a:prstDash val="solid"/>
          </a:ln>
        </p:spPr>
      </p:sp>
      <p:sp>
        <p:nvSpPr>
          <p:cNvPr id="17" name="Text 14"/>
          <p:cNvSpPr txBox="1"/>
          <p:nvPr/>
        </p:nvSpPr>
        <p:spPr>
          <a:xfrm>
            <a:off x="3712464" y="2715768"/>
            <a:ext cx="146304" cy="146304"/>
          </a:xfrm>
          <a:prstGeom prst="rect">
            <a:avLst/>
          </a:prstGeom>
          <a:noFill/>
          <a:ln/>
        </p:spPr>
        <p:txBody>
          <a:bodyPr wrap="square" lIns="0" tIns="0" rIns="0" bIns="0" rtlCol="0" anchor="ctr"/>
          <a:lstStyle/>
          <a:p>
            <a:pPr algn="ctr" indent="0" marL="0">
              <a:buNone/>
            </a:pPr>
            <a:endParaRPr lang="en-US" sz="800" dirty="0"/>
          </a:p>
        </p:txBody>
      </p:sp>
      <p:sp>
        <p:nvSpPr>
          <p:cNvPr id="18" name="Text 15"/>
          <p:cNvSpPr txBox="1"/>
          <p:nvPr/>
        </p:nvSpPr>
        <p:spPr>
          <a:xfrm>
            <a:off x="4023360" y="2487168"/>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다른 팀원 승인 후 머지(31/46)</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(자기 PR은 자기가 승인하지 않기)</a:t>
            </a:r>
            <a:endParaRPr lang="en-US" sz="1300" dirty="0"/>
          </a:p>
        </p:txBody>
      </p:sp>
      <p:sp>
        <p:nvSpPr>
          <p:cNvPr id="19" name="Shape 16"/>
          <p:cNvSpPr/>
          <p:nvPr/>
        </p:nvSpPr>
        <p:spPr>
          <a:xfrm>
            <a:off x="3712464" y="3374136"/>
            <a:ext cx="146304" cy="146304"/>
          </a:xfrm>
          <a:prstGeom prst="ellipse">
            <a:avLst/>
          </a:prstGeom>
          <a:solidFill>
            <a:srgbClr val="1F7A6D"/>
          </a:solidFill>
          <a:ln w="6350">
            <a:solidFill>
              <a:srgbClr val="1F7A6D"/>
            </a:solidFill>
            <a:prstDash val="solid"/>
          </a:ln>
        </p:spPr>
      </p:sp>
      <p:sp>
        <p:nvSpPr>
          <p:cNvPr id="20" name="Text 17"/>
          <p:cNvSpPr txBox="1"/>
          <p:nvPr/>
        </p:nvSpPr>
        <p:spPr>
          <a:xfrm>
            <a:off x="3712464" y="3374136"/>
            <a:ext cx="146304" cy="146304"/>
          </a:xfrm>
          <a:prstGeom prst="rect">
            <a:avLst/>
          </a:prstGeom>
          <a:noFill/>
          <a:ln/>
        </p:spPr>
        <p:txBody>
          <a:bodyPr wrap="square" lIns="0" tIns="0" rIns="0" bIns="0" rtlCol="0" anchor="ctr"/>
          <a:lstStyle/>
          <a:p>
            <a:pPr algn="ctr" indent="0" marL="0">
              <a:buNone/>
            </a:pPr>
            <a:endParaRPr lang="en-US" sz="800" dirty="0"/>
          </a:p>
        </p:txBody>
      </p:sp>
      <p:sp>
        <p:nvSpPr>
          <p:cNvPr id="21" name="Text 18"/>
          <p:cNvSpPr txBox="1"/>
          <p:nvPr/>
        </p:nvSpPr>
        <p:spPr>
          <a:xfrm>
            <a:off x="4023360" y="3145536"/>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API·공통 데이터 구조는 임의로 바꾸지 않기</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(변경은 작성자 + 3명 동의)</a:t>
            </a:r>
            <a:endParaRPr lang="en-US" sz="1300" dirty="0"/>
          </a:p>
        </p:txBody>
      </p:sp>
      <p:sp>
        <p:nvSpPr>
          <p:cNvPr id="22" name="Shape 19"/>
          <p:cNvSpPr/>
          <p:nvPr/>
        </p:nvSpPr>
        <p:spPr>
          <a:xfrm>
            <a:off x="3712464" y="4032504"/>
            <a:ext cx="146304" cy="146304"/>
          </a:xfrm>
          <a:prstGeom prst="ellipse">
            <a:avLst/>
          </a:prstGeom>
          <a:solidFill>
            <a:srgbClr val="1F7A6D"/>
          </a:solidFill>
          <a:ln w="6350">
            <a:solidFill>
              <a:srgbClr val="1F7A6D"/>
            </a:solidFill>
            <a:prstDash val="solid"/>
          </a:ln>
        </p:spPr>
      </p:sp>
      <p:sp>
        <p:nvSpPr>
          <p:cNvPr id="23" name="Text 20"/>
          <p:cNvSpPr txBox="1"/>
          <p:nvPr/>
        </p:nvSpPr>
        <p:spPr>
          <a:xfrm>
            <a:off x="3712464" y="4032504"/>
            <a:ext cx="146304" cy="146304"/>
          </a:xfrm>
          <a:prstGeom prst="rect">
            <a:avLst/>
          </a:prstGeom>
          <a:noFill/>
          <a:ln/>
        </p:spPr>
        <p:txBody>
          <a:bodyPr wrap="square" lIns="0" tIns="0" rIns="0" bIns="0" rtlCol="0" anchor="ctr"/>
          <a:lstStyle/>
          <a:p>
            <a:pPr algn="ctr" indent="0" marL="0">
              <a:buNone/>
            </a:pPr>
            <a:endParaRPr lang="en-US" sz="800" dirty="0"/>
          </a:p>
        </p:txBody>
      </p:sp>
      <p:sp>
        <p:nvSpPr>
          <p:cNvPr id="24" name="Text 21"/>
          <p:cNvSpPr txBox="1"/>
          <p:nvPr/>
        </p:nvSpPr>
        <p:spPr>
          <a:xfrm>
            <a:off x="4023360" y="3803904"/>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AI가 만든 코드도 직접 실행해 검증하기</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개발 일정</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이틀째에 연결하고, 사흘째에 배포했다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WORK_UNITS 일정 · 저장소 PR 기록(10/1 오후 기준, 날짜는 머지일)</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17 / 20</a:t>
            </a:r>
            <a:endParaRPr lang="en-US" sz="1000" dirty="0"/>
          </a:p>
        </p:txBody>
      </p:sp>
      <p:sp>
        <p:nvSpPr>
          <p:cNvPr id="7" name="Shape 4"/>
          <p:cNvSpPr/>
          <p:nvPr/>
        </p:nvSpPr>
        <p:spPr>
          <a:xfrm>
            <a:off x="457200" y="1783080"/>
            <a:ext cx="1554480" cy="566928"/>
          </a:xfrm>
          <a:prstGeom prst="roundRect">
            <a:avLst>
              <a:gd name="adj" fmla="val 16129"/>
            </a:avLst>
          </a:prstGeom>
          <a:solidFill>
            <a:srgbClr val="1F7A6D"/>
          </a:solidFill>
          <a:ln w="6350">
            <a:solidFill>
              <a:srgbClr val="1F7A6D"/>
            </a:solidFill>
            <a:prstDash val="solid"/>
          </a:ln>
        </p:spPr>
      </p:sp>
      <p:sp>
        <p:nvSpPr>
          <p:cNvPr id="8" name="Text 5"/>
          <p:cNvSpPr txBox="1"/>
          <p:nvPr/>
        </p:nvSpPr>
        <p:spPr>
          <a:xfrm>
            <a:off x="566928" y="1783080"/>
            <a:ext cx="1371600" cy="566928"/>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Day 1  </a:t>
            </a:r>
            <a:pPr indent="0" marL="0">
              <a:buNone/>
            </a:pPr>
            <a:r>
              <a:rPr lang="en-US" sz="1200" dirty="0">
                <a:solidFill>
                  <a:srgbClr val="D8EBE6"/>
                </a:solidFill>
                <a:latin typeface="Malgun Gothic" pitchFamily="34" charset="0"/>
                <a:ea typeface="Malgun Gothic" pitchFamily="34" charset="-122"/>
                <a:cs typeface="Malgun Gothic" pitchFamily="34" charset="-120"/>
              </a:rPr>
              <a:t>9/28</a:t>
            </a:r>
            <a:endParaRPr lang="en-US" sz="1300" dirty="0"/>
          </a:p>
        </p:txBody>
      </p:sp>
      <p:sp>
        <p:nvSpPr>
          <p:cNvPr id="9" name="Shape 6"/>
          <p:cNvSpPr/>
          <p:nvPr/>
        </p:nvSpPr>
        <p:spPr>
          <a:xfrm>
            <a:off x="457200" y="2395728"/>
            <a:ext cx="1554480" cy="2103120"/>
          </a:xfrm>
          <a:prstGeom prst="roundRect">
            <a:avLst>
              <a:gd name="adj" fmla="val 5882"/>
            </a:avLst>
          </a:prstGeom>
          <a:solidFill>
            <a:srgbClr val="E6F2EF"/>
          </a:solidFill>
          <a:ln w="6350">
            <a:solidFill>
              <a:srgbClr val="E6F2EF"/>
            </a:solidFill>
            <a:prstDash val="solid"/>
          </a:ln>
        </p:spPr>
      </p:sp>
      <p:sp>
        <p:nvSpPr>
          <p:cNvPr id="10" name="Text 7"/>
          <p:cNvSpPr txBox="1"/>
          <p:nvPr/>
        </p:nvSpPr>
        <p:spPr>
          <a:xfrm>
            <a:off x="566928" y="2468880"/>
            <a:ext cx="1371600" cy="274320"/>
          </a:xfrm>
          <a:prstGeom prst="rect">
            <a:avLst/>
          </a:prstGeom>
          <a:noFill/>
          <a:ln/>
        </p:spPr>
        <p:txBody>
          <a:bodyPr wrap="square" lIns="0" tIns="0" rIns="0" bIns="0" rtlCol="0" anchor="t"/>
          <a:lstStyle/>
          <a:p>
            <a:pPr indent="0" marL="0">
              <a:buNone/>
            </a:pPr>
            <a:r>
              <a:rPr lang="en-US" sz="1000" b="1" dirty="0">
                <a:solidFill>
                  <a:srgbClr val="5B6B6B"/>
                </a:solidFill>
                <a:latin typeface="Malgun Gothic" pitchFamily="34" charset="0"/>
                <a:ea typeface="Malgun Gothic" pitchFamily="34" charset="-122"/>
                <a:cs typeface="Malgun Gothic" pitchFamily="34" charset="-120"/>
              </a:rPr>
              <a:t>계획: 기획·공통 기반</a:t>
            </a:r>
            <a:endParaRPr lang="en-US" sz="1000" dirty="0"/>
          </a:p>
        </p:txBody>
      </p:sp>
      <p:sp>
        <p:nvSpPr>
          <p:cNvPr id="11" name="Text 8"/>
          <p:cNvSpPr txBox="1"/>
          <p:nvPr/>
        </p:nvSpPr>
        <p:spPr>
          <a:xfrm>
            <a:off x="548640" y="2788920"/>
            <a:ext cx="1389888" cy="164592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저장소·협업 환경</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개발 문서 4종</a:t>
            </a:r>
            <a:endParaRPr lang="en-US" sz="1100" dirty="0"/>
          </a:p>
        </p:txBody>
      </p:sp>
      <p:sp>
        <p:nvSpPr>
          <p:cNvPr id="12" name="Shape 9"/>
          <p:cNvSpPr/>
          <p:nvPr/>
        </p:nvSpPr>
        <p:spPr>
          <a:xfrm>
            <a:off x="2121408" y="1783080"/>
            <a:ext cx="1554480" cy="566928"/>
          </a:xfrm>
          <a:prstGeom prst="roundRect">
            <a:avLst>
              <a:gd name="adj" fmla="val 16129"/>
            </a:avLst>
          </a:prstGeom>
          <a:solidFill>
            <a:srgbClr val="1F7A6D"/>
          </a:solidFill>
          <a:ln w="6350">
            <a:solidFill>
              <a:srgbClr val="1F7A6D"/>
            </a:solidFill>
            <a:prstDash val="solid"/>
          </a:ln>
        </p:spPr>
      </p:sp>
      <p:sp>
        <p:nvSpPr>
          <p:cNvPr id="13" name="Text 10"/>
          <p:cNvSpPr txBox="1"/>
          <p:nvPr/>
        </p:nvSpPr>
        <p:spPr>
          <a:xfrm>
            <a:off x="2231136" y="1783080"/>
            <a:ext cx="1371600" cy="566928"/>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Day 2  </a:t>
            </a:r>
            <a:pPr indent="0" marL="0">
              <a:buNone/>
            </a:pPr>
            <a:r>
              <a:rPr lang="en-US" sz="1200" dirty="0">
                <a:solidFill>
                  <a:srgbClr val="D8EBE6"/>
                </a:solidFill>
                <a:latin typeface="Malgun Gothic" pitchFamily="34" charset="0"/>
                <a:ea typeface="Malgun Gothic" pitchFamily="34" charset="-122"/>
                <a:cs typeface="Malgun Gothic" pitchFamily="34" charset="-120"/>
              </a:rPr>
              <a:t>9/29</a:t>
            </a:r>
            <a:endParaRPr lang="en-US" sz="1300" dirty="0"/>
          </a:p>
        </p:txBody>
      </p:sp>
      <p:sp>
        <p:nvSpPr>
          <p:cNvPr id="14" name="Shape 11"/>
          <p:cNvSpPr/>
          <p:nvPr/>
        </p:nvSpPr>
        <p:spPr>
          <a:xfrm>
            <a:off x="2121408" y="2395728"/>
            <a:ext cx="1554480" cy="2103120"/>
          </a:xfrm>
          <a:prstGeom prst="roundRect">
            <a:avLst>
              <a:gd name="adj" fmla="val 5882"/>
            </a:avLst>
          </a:prstGeom>
          <a:solidFill>
            <a:srgbClr val="E6F2EF"/>
          </a:solidFill>
          <a:ln w="6350">
            <a:solidFill>
              <a:srgbClr val="E6F2EF"/>
            </a:solidFill>
            <a:prstDash val="solid"/>
          </a:ln>
        </p:spPr>
      </p:sp>
      <p:sp>
        <p:nvSpPr>
          <p:cNvPr id="15" name="Text 12"/>
          <p:cNvSpPr txBox="1"/>
          <p:nvPr/>
        </p:nvSpPr>
        <p:spPr>
          <a:xfrm>
            <a:off x="2231136" y="2468880"/>
            <a:ext cx="1371600" cy="274320"/>
          </a:xfrm>
          <a:prstGeom prst="rect">
            <a:avLst/>
          </a:prstGeom>
          <a:noFill/>
          <a:ln/>
        </p:spPr>
        <p:txBody>
          <a:bodyPr wrap="square" lIns="0" tIns="0" rIns="0" bIns="0" rtlCol="0" anchor="t"/>
          <a:lstStyle/>
          <a:p>
            <a:pPr indent="0" marL="0">
              <a:buNone/>
            </a:pPr>
            <a:r>
              <a:rPr lang="en-US" sz="1000" b="1" dirty="0">
                <a:solidFill>
                  <a:srgbClr val="5B6B6B"/>
                </a:solidFill>
                <a:latin typeface="Malgun Gothic" pitchFamily="34" charset="0"/>
                <a:ea typeface="Malgun Gothic" pitchFamily="34" charset="-122"/>
                <a:cs typeface="Malgun Gothic" pitchFamily="34" charset="-120"/>
              </a:rPr>
              <a:t>계획: 담당별 개발</a:t>
            </a:r>
            <a:endParaRPr lang="en-US" sz="1000" dirty="0"/>
          </a:p>
        </p:txBody>
      </p:sp>
      <p:sp>
        <p:nvSpPr>
          <p:cNvPr id="16" name="Text 13"/>
          <p:cNvSpPr txBox="1"/>
          <p:nvPr/>
        </p:nvSpPr>
        <p:spPr>
          <a:xfrm>
            <a:off x="2212848" y="2788920"/>
            <a:ext cx="1389888" cy="164592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화면·서버·계산·AI 첫 연결</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정답 파일(fixture)</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PR 15개 머지</a:t>
            </a:r>
            <a:endParaRPr lang="en-US" sz="1100" dirty="0"/>
          </a:p>
        </p:txBody>
      </p:sp>
      <p:sp>
        <p:nvSpPr>
          <p:cNvPr id="17" name="Shape 14"/>
          <p:cNvSpPr/>
          <p:nvPr/>
        </p:nvSpPr>
        <p:spPr>
          <a:xfrm>
            <a:off x="3785616" y="1783080"/>
            <a:ext cx="1554480" cy="566928"/>
          </a:xfrm>
          <a:prstGeom prst="roundRect">
            <a:avLst>
              <a:gd name="adj" fmla="val 16129"/>
            </a:avLst>
          </a:prstGeom>
          <a:solidFill>
            <a:srgbClr val="1F7A6D"/>
          </a:solidFill>
          <a:ln w="6350">
            <a:solidFill>
              <a:srgbClr val="1F7A6D"/>
            </a:solidFill>
            <a:prstDash val="solid"/>
          </a:ln>
        </p:spPr>
      </p:sp>
      <p:sp>
        <p:nvSpPr>
          <p:cNvPr id="18" name="Text 15"/>
          <p:cNvSpPr txBox="1"/>
          <p:nvPr/>
        </p:nvSpPr>
        <p:spPr>
          <a:xfrm>
            <a:off x="3895344" y="1783080"/>
            <a:ext cx="1371600" cy="566928"/>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Day 3  </a:t>
            </a:r>
            <a:pPr indent="0" marL="0">
              <a:buNone/>
            </a:pPr>
            <a:r>
              <a:rPr lang="en-US" sz="1200" dirty="0">
                <a:solidFill>
                  <a:srgbClr val="D8EBE6"/>
                </a:solidFill>
                <a:latin typeface="Malgun Gothic" pitchFamily="34" charset="0"/>
                <a:ea typeface="Malgun Gothic" pitchFamily="34" charset="-122"/>
                <a:cs typeface="Malgun Gothic" pitchFamily="34" charset="-120"/>
              </a:rPr>
              <a:t>9/30</a:t>
            </a:r>
            <a:endParaRPr lang="en-US" sz="1300" dirty="0"/>
          </a:p>
        </p:txBody>
      </p:sp>
      <p:sp>
        <p:nvSpPr>
          <p:cNvPr id="19" name="Shape 16"/>
          <p:cNvSpPr/>
          <p:nvPr/>
        </p:nvSpPr>
        <p:spPr>
          <a:xfrm>
            <a:off x="3785616" y="2395728"/>
            <a:ext cx="1554480" cy="2103120"/>
          </a:xfrm>
          <a:prstGeom prst="roundRect">
            <a:avLst>
              <a:gd name="adj" fmla="val 5882"/>
            </a:avLst>
          </a:prstGeom>
          <a:solidFill>
            <a:srgbClr val="E6F2EF"/>
          </a:solidFill>
          <a:ln w="6350">
            <a:solidFill>
              <a:srgbClr val="E6F2EF"/>
            </a:solidFill>
            <a:prstDash val="solid"/>
          </a:ln>
        </p:spPr>
      </p:sp>
      <p:sp>
        <p:nvSpPr>
          <p:cNvPr id="20" name="Text 17"/>
          <p:cNvSpPr txBox="1"/>
          <p:nvPr/>
        </p:nvSpPr>
        <p:spPr>
          <a:xfrm>
            <a:off x="3895344" y="2468880"/>
            <a:ext cx="1371600" cy="274320"/>
          </a:xfrm>
          <a:prstGeom prst="rect">
            <a:avLst/>
          </a:prstGeom>
          <a:noFill/>
          <a:ln/>
        </p:spPr>
        <p:txBody>
          <a:bodyPr wrap="square" lIns="0" tIns="0" rIns="0" bIns="0" rtlCol="0" anchor="t"/>
          <a:lstStyle/>
          <a:p>
            <a:pPr indent="0" marL="0">
              <a:buNone/>
            </a:pPr>
            <a:r>
              <a:rPr lang="en-US" sz="1000" b="1" dirty="0">
                <a:solidFill>
                  <a:srgbClr val="5B6B6B"/>
                </a:solidFill>
                <a:latin typeface="Malgun Gothic" pitchFamily="34" charset="0"/>
                <a:ea typeface="Malgun Gothic" pitchFamily="34" charset="-122"/>
                <a:cs typeface="Malgun Gothic" pitchFamily="34" charset="-120"/>
              </a:rPr>
              <a:t>계획: 기능 확장·연결</a:t>
            </a:r>
            <a:endParaRPr lang="en-US" sz="1000" dirty="0"/>
          </a:p>
        </p:txBody>
      </p:sp>
      <p:sp>
        <p:nvSpPr>
          <p:cNvPr id="21" name="Text 18"/>
          <p:cNvSpPr txBox="1"/>
          <p:nvPr/>
        </p:nvSpPr>
        <p:spPr>
          <a:xfrm>
            <a:off x="3877056" y="2788920"/>
            <a:ext cx="1389888" cy="164592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자동 배포</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실패 케이스 검증</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실제 내보내기 4종 지원</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PR 18개 머지</a:t>
            </a:r>
            <a:endParaRPr lang="en-US" sz="1100" dirty="0"/>
          </a:p>
        </p:txBody>
      </p:sp>
      <p:sp>
        <p:nvSpPr>
          <p:cNvPr id="22" name="Shape 19"/>
          <p:cNvSpPr/>
          <p:nvPr/>
        </p:nvSpPr>
        <p:spPr>
          <a:xfrm>
            <a:off x="5449824" y="1783080"/>
            <a:ext cx="1554480" cy="566928"/>
          </a:xfrm>
          <a:prstGeom prst="roundRect">
            <a:avLst>
              <a:gd name="adj" fmla="val 16129"/>
            </a:avLst>
          </a:prstGeom>
          <a:solidFill>
            <a:srgbClr val="1F7A6D"/>
          </a:solidFill>
          <a:ln w="6350">
            <a:solidFill>
              <a:srgbClr val="1F7A6D"/>
            </a:solidFill>
            <a:prstDash val="solid"/>
          </a:ln>
        </p:spPr>
      </p:sp>
      <p:sp>
        <p:nvSpPr>
          <p:cNvPr id="23" name="Text 20"/>
          <p:cNvSpPr txBox="1"/>
          <p:nvPr/>
        </p:nvSpPr>
        <p:spPr>
          <a:xfrm>
            <a:off x="5559552" y="1783080"/>
            <a:ext cx="1371600" cy="566928"/>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Day 4  </a:t>
            </a:r>
            <a:pPr indent="0" marL="0">
              <a:buNone/>
            </a:pPr>
            <a:r>
              <a:rPr lang="en-US" sz="1200" dirty="0">
                <a:solidFill>
                  <a:srgbClr val="D8EBE6"/>
                </a:solidFill>
                <a:latin typeface="Malgun Gothic" pitchFamily="34" charset="0"/>
                <a:ea typeface="Malgun Gothic" pitchFamily="34" charset="-122"/>
                <a:cs typeface="Malgun Gothic" pitchFamily="34" charset="-120"/>
              </a:rPr>
              <a:t>10/1</a:t>
            </a:r>
            <a:endParaRPr lang="en-US" sz="1300" dirty="0"/>
          </a:p>
        </p:txBody>
      </p:sp>
      <p:sp>
        <p:nvSpPr>
          <p:cNvPr id="24" name="Shape 21"/>
          <p:cNvSpPr/>
          <p:nvPr/>
        </p:nvSpPr>
        <p:spPr>
          <a:xfrm>
            <a:off x="5449824" y="2395728"/>
            <a:ext cx="1554480" cy="2103120"/>
          </a:xfrm>
          <a:prstGeom prst="roundRect">
            <a:avLst>
              <a:gd name="adj" fmla="val 5882"/>
            </a:avLst>
          </a:prstGeom>
          <a:solidFill>
            <a:srgbClr val="E6F2EF"/>
          </a:solidFill>
          <a:ln w="6350">
            <a:solidFill>
              <a:srgbClr val="E6F2EF"/>
            </a:solidFill>
            <a:prstDash val="solid"/>
          </a:ln>
        </p:spPr>
      </p:sp>
      <p:sp>
        <p:nvSpPr>
          <p:cNvPr id="25" name="Text 22"/>
          <p:cNvSpPr txBox="1"/>
          <p:nvPr/>
        </p:nvSpPr>
        <p:spPr>
          <a:xfrm>
            <a:off x="5559552" y="2468880"/>
            <a:ext cx="1371600" cy="274320"/>
          </a:xfrm>
          <a:prstGeom prst="rect">
            <a:avLst/>
          </a:prstGeom>
          <a:noFill/>
          <a:ln/>
        </p:spPr>
        <p:txBody>
          <a:bodyPr wrap="square" lIns="0" tIns="0" rIns="0" bIns="0" rtlCol="0" anchor="t"/>
          <a:lstStyle/>
          <a:p>
            <a:pPr indent="0" marL="0">
              <a:buNone/>
            </a:pPr>
            <a:r>
              <a:rPr lang="en-US" sz="1000" b="1" dirty="0">
                <a:solidFill>
                  <a:srgbClr val="5B6B6B"/>
                </a:solidFill>
                <a:latin typeface="Malgun Gothic" pitchFamily="34" charset="0"/>
                <a:ea typeface="Malgun Gothic" pitchFamily="34" charset="-122"/>
                <a:cs typeface="Malgun Gothic" pitchFamily="34" charset="-120"/>
              </a:rPr>
              <a:t>계획: 통합·검증·배포</a:t>
            </a:r>
            <a:endParaRPr lang="en-US" sz="1000" dirty="0"/>
          </a:p>
        </p:txBody>
      </p:sp>
      <p:sp>
        <p:nvSpPr>
          <p:cNvPr id="26" name="Text 23"/>
          <p:cNvSpPr txBox="1"/>
          <p:nvPr/>
        </p:nvSpPr>
        <p:spPr>
          <a:xfrm>
            <a:off x="5541264" y="2788920"/>
            <a:ext cx="1389888" cy="164592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화면 개편</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상품 진단</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문서·시연 정리</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PR 13개 머지</a:t>
            </a:r>
            <a:endParaRPr lang="en-US" sz="1100" dirty="0"/>
          </a:p>
        </p:txBody>
      </p:sp>
      <p:sp>
        <p:nvSpPr>
          <p:cNvPr id="27" name="Shape 24"/>
          <p:cNvSpPr/>
          <p:nvPr/>
        </p:nvSpPr>
        <p:spPr>
          <a:xfrm>
            <a:off x="7114032" y="1783080"/>
            <a:ext cx="1554480" cy="566928"/>
          </a:xfrm>
          <a:prstGeom prst="roundRect">
            <a:avLst>
              <a:gd name="adj" fmla="val 16129"/>
            </a:avLst>
          </a:prstGeom>
          <a:solidFill>
            <a:srgbClr val="0E3B3B"/>
          </a:solidFill>
          <a:ln w="6350">
            <a:solidFill>
              <a:srgbClr val="0E3B3B"/>
            </a:solidFill>
            <a:prstDash val="solid"/>
          </a:ln>
        </p:spPr>
      </p:sp>
      <p:sp>
        <p:nvSpPr>
          <p:cNvPr id="28" name="Text 25"/>
          <p:cNvSpPr txBox="1"/>
          <p:nvPr/>
        </p:nvSpPr>
        <p:spPr>
          <a:xfrm>
            <a:off x="7223760" y="1783080"/>
            <a:ext cx="1371600" cy="566928"/>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Day 5  </a:t>
            </a:r>
            <a:pPr indent="0" marL="0">
              <a:buNone/>
            </a:pPr>
            <a:r>
              <a:rPr lang="en-US" sz="1200" dirty="0">
                <a:solidFill>
                  <a:srgbClr val="F5B83D"/>
                </a:solidFill>
                <a:latin typeface="Malgun Gothic" pitchFamily="34" charset="0"/>
                <a:ea typeface="Malgun Gothic" pitchFamily="34" charset="-122"/>
                <a:cs typeface="Malgun Gothic" pitchFamily="34" charset="-120"/>
              </a:rPr>
              <a:t>10/2</a:t>
            </a:r>
            <a:endParaRPr lang="en-US" sz="1300" dirty="0"/>
          </a:p>
        </p:txBody>
      </p:sp>
      <p:sp>
        <p:nvSpPr>
          <p:cNvPr id="29" name="Shape 26"/>
          <p:cNvSpPr/>
          <p:nvPr/>
        </p:nvSpPr>
        <p:spPr>
          <a:xfrm>
            <a:off x="7114032" y="2395728"/>
            <a:ext cx="1554480" cy="2103120"/>
          </a:xfrm>
          <a:prstGeom prst="roundRect">
            <a:avLst>
              <a:gd name="adj" fmla="val 5882"/>
            </a:avLst>
          </a:prstGeom>
          <a:solidFill>
            <a:srgbClr val="E6F2EF"/>
          </a:solidFill>
          <a:ln w="6350">
            <a:solidFill>
              <a:srgbClr val="E6F2EF"/>
            </a:solidFill>
            <a:prstDash val="solid"/>
          </a:ln>
        </p:spPr>
      </p:sp>
      <p:sp>
        <p:nvSpPr>
          <p:cNvPr id="30" name="Text 27"/>
          <p:cNvSpPr txBox="1"/>
          <p:nvPr/>
        </p:nvSpPr>
        <p:spPr>
          <a:xfrm>
            <a:off x="7223760" y="2468880"/>
            <a:ext cx="1371600" cy="274320"/>
          </a:xfrm>
          <a:prstGeom prst="rect">
            <a:avLst/>
          </a:prstGeom>
          <a:noFill/>
          <a:ln/>
        </p:spPr>
        <p:txBody>
          <a:bodyPr wrap="square" lIns="0" tIns="0" rIns="0" bIns="0" rtlCol="0" anchor="t"/>
          <a:lstStyle/>
          <a:p>
            <a:pPr indent="0" marL="0">
              <a:buNone/>
            </a:pPr>
            <a:r>
              <a:rPr lang="en-US" sz="1000" b="1" dirty="0">
                <a:solidFill>
                  <a:srgbClr val="5B6B6B"/>
                </a:solidFill>
                <a:latin typeface="Malgun Gothic" pitchFamily="34" charset="0"/>
                <a:ea typeface="Malgun Gothic" pitchFamily="34" charset="-122"/>
                <a:cs typeface="Malgun Gothic" pitchFamily="34" charset="-120"/>
              </a:rPr>
              <a:t>계획: 제출</a:t>
            </a:r>
            <a:endParaRPr lang="en-US" sz="1000" dirty="0"/>
          </a:p>
        </p:txBody>
      </p:sp>
      <p:sp>
        <p:nvSpPr>
          <p:cNvPr id="31" name="Text 28"/>
          <p:cNvSpPr txBox="1"/>
          <p:nvPr/>
        </p:nvSpPr>
        <p:spPr>
          <a:xfrm>
            <a:off x="7205472" y="2788920"/>
            <a:ext cx="1389888" cy="164592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발표·시연</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문서·제출</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역할 분담</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각자 한 층을 맡고, 공통 계약 문서로 이었다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README 팀 구성 · WORK_UNITS 담당·리뷰 · 계약 README</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18 / 20</a:t>
            </a:r>
            <a:endParaRPr lang="en-US" sz="1000" dirty="0"/>
          </a:p>
        </p:txBody>
      </p:sp>
      <p:sp>
        <p:nvSpPr>
          <p:cNvPr id="7" name="Shape 4"/>
          <p:cNvSpPr/>
          <p:nvPr/>
        </p:nvSpPr>
        <p:spPr>
          <a:xfrm>
            <a:off x="457200" y="1783080"/>
            <a:ext cx="1920240" cy="2331720"/>
          </a:xfrm>
          <a:prstGeom prst="roundRect">
            <a:avLst>
              <a:gd name="adj" fmla="val 4762"/>
            </a:avLst>
          </a:prstGeom>
          <a:solidFill>
            <a:srgbClr val="E6F2EF"/>
          </a:solidFill>
          <a:ln w="6350">
            <a:solidFill>
              <a:srgbClr val="E6F2EF"/>
            </a:solidFill>
            <a:prstDash val="solid"/>
          </a:ln>
        </p:spPr>
      </p:sp>
      <p:sp>
        <p:nvSpPr>
          <p:cNvPr id="8" name="Shape 5"/>
          <p:cNvSpPr/>
          <p:nvPr/>
        </p:nvSpPr>
        <p:spPr>
          <a:xfrm>
            <a:off x="594360" y="1892808"/>
            <a:ext cx="402336" cy="402336"/>
          </a:xfrm>
          <a:prstGeom prst="ellipse">
            <a:avLst/>
          </a:prstGeom>
          <a:solidFill>
            <a:srgbClr val="1F7A6D"/>
          </a:solidFill>
          <a:ln w="6350">
            <a:solidFill>
              <a:srgbClr val="1F7A6D"/>
            </a:solidFill>
            <a:prstDash val="solid"/>
          </a:ln>
        </p:spPr>
      </p:sp>
      <p:sp>
        <p:nvSpPr>
          <p:cNvPr id="9" name="Text 6"/>
          <p:cNvSpPr txBox="1"/>
          <p:nvPr/>
        </p:nvSpPr>
        <p:spPr>
          <a:xfrm>
            <a:off x="594360" y="189280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A</a:t>
            </a:r>
            <a:endParaRPr lang="en-US" sz="1600" dirty="0"/>
          </a:p>
        </p:txBody>
      </p:sp>
      <p:sp>
        <p:nvSpPr>
          <p:cNvPr id="10" name="Text 7"/>
          <p:cNvSpPr txBox="1"/>
          <p:nvPr/>
        </p:nvSpPr>
        <p:spPr>
          <a:xfrm>
            <a:off x="1097280" y="1892808"/>
            <a:ext cx="1234440" cy="402336"/>
          </a:xfrm>
          <a:prstGeom prst="rect">
            <a:avLst/>
          </a:prstGeom>
          <a:noFill/>
          <a:ln/>
        </p:spPr>
        <p:txBody>
          <a:bodyPr wrap="square" lIns="0" tIns="0" rIns="0" bIns="0" rtlCol="0" anchor="ctr"/>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프론트엔드</a:t>
            </a:r>
            <a:endParaRPr lang="en-US" sz="1400" dirty="0"/>
          </a:p>
        </p:txBody>
      </p:sp>
      <p:sp>
        <p:nvSpPr>
          <p:cNvPr id="11" name="Text 8"/>
          <p:cNvSpPr txBox="1"/>
          <p:nvPr/>
        </p:nvSpPr>
        <p:spPr>
          <a:xfrm>
            <a:off x="594360" y="2395728"/>
            <a:ext cx="1691640" cy="256032"/>
          </a:xfrm>
          <a:prstGeom prst="rect">
            <a:avLst/>
          </a:prstGeom>
          <a:noFill/>
          <a:ln/>
        </p:spPr>
        <p:txBody>
          <a:bodyPr wrap="square" lIns="0" tIns="0" rIns="0" bIns="0" rtlCol="0" anchor="t"/>
          <a:lstStyle/>
          <a:p>
            <a:pPr indent="0" marL="0">
              <a:buNone/>
            </a:pPr>
            <a:r>
              <a:rPr lang="en-US" sz="950" dirty="0">
                <a:solidFill>
                  <a:srgbClr val="5B6B6B"/>
                </a:solidFill>
                <a:latin typeface="Malgun Gothic" pitchFamily="34" charset="0"/>
                <a:ea typeface="Malgun Gothic" pitchFamily="34" charset="-122"/>
                <a:cs typeface="Malgun Gothic" pitchFamily="34" charset="-120"/>
              </a:rPr>
              <a:t>frontend/</a:t>
            </a:r>
            <a:endParaRPr lang="en-US" sz="950" dirty="0"/>
          </a:p>
        </p:txBody>
      </p:sp>
      <p:sp>
        <p:nvSpPr>
          <p:cNvPr id="12" name="Text 9"/>
          <p:cNvSpPr txBox="1"/>
          <p:nvPr/>
        </p:nvSpPr>
        <p:spPr>
          <a:xfrm>
            <a:off x="566928" y="2697480"/>
            <a:ext cx="1719072" cy="1097280"/>
          </a:xfrm>
          <a:prstGeom prst="rect">
            <a:avLst/>
          </a:prstGeom>
          <a:noFill/>
          <a:ln/>
        </p:spPr>
        <p:txBody>
          <a:bodyPr wrap="square" lIns="0" tIns="0" rIns="0" bIns="0" rtlCol="0" anchor="t"/>
          <a:lstStyle/>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업로드·미리보기</a:t>
            </a:r>
            <a:endParaRPr lang="en-US" sz="1100" dirty="0"/>
          </a:p>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간단·자세히 보기 화면</a:t>
            </a:r>
            <a:endParaRPr lang="en-US" sz="1100" dirty="0"/>
          </a:p>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AI 물어보기 창</a:t>
            </a:r>
            <a:endParaRPr lang="en-US" sz="1100" dirty="0"/>
          </a:p>
        </p:txBody>
      </p:sp>
      <p:sp>
        <p:nvSpPr>
          <p:cNvPr id="13" name="Text 10"/>
          <p:cNvSpPr txBox="1"/>
          <p:nvPr/>
        </p:nvSpPr>
        <p:spPr>
          <a:xfrm>
            <a:off x="594360" y="3813048"/>
            <a:ext cx="1691640" cy="246888"/>
          </a:xfrm>
          <a:prstGeom prst="rect">
            <a:avLst/>
          </a:prstGeom>
          <a:noFill/>
          <a:ln/>
        </p:spPr>
        <p:txBody>
          <a:bodyPr wrap="square" lIns="0" tIns="0" rIns="0" bIns="0" rtlCol="0" anchor="ctr"/>
          <a:lstStyle/>
          <a:p>
            <a:pPr indent="0" marL="0">
              <a:buNone/>
            </a:pPr>
            <a:r>
              <a:rPr lang="en-US" sz="1000" b="1" dirty="0">
                <a:solidFill>
                  <a:srgbClr val="1F7A6D"/>
                </a:solidFill>
                <a:latin typeface="Malgun Gothic" pitchFamily="34" charset="0"/>
                <a:ea typeface="Malgun Gothic" pitchFamily="34" charset="-122"/>
                <a:cs typeface="Malgun Gothic" pitchFamily="34" charset="-120"/>
              </a:rPr>
              <a:t>리뷰: B</a:t>
            </a:r>
            <a:endParaRPr lang="en-US" sz="1000" dirty="0"/>
          </a:p>
        </p:txBody>
      </p:sp>
      <p:sp>
        <p:nvSpPr>
          <p:cNvPr id="14" name="Shape 11"/>
          <p:cNvSpPr/>
          <p:nvPr/>
        </p:nvSpPr>
        <p:spPr>
          <a:xfrm>
            <a:off x="2560320" y="1783080"/>
            <a:ext cx="1920240" cy="2331720"/>
          </a:xfrm>
          <a:prstGeom prst="roundRect">
            <a:avLst>
              <a:gd name="adj" fmla="val 4762"/>
            </a:avLst>
          </a:prstGeom>
          <a:solidFill>
            <a:srgbClr val="E6F2EF"/>
          </a:solidFill>
          <a:ln w="6350">
            <a:solidFill>
              <a:srgbClr val="E6F2EF"/>
            </a:solidFill>
            <a:prstDash val="solid"/>
          </a:ln>
        </p:spPr>
      </p:sp>
      <p:sp>
        <p:nvSpPr>
          <p:cNvPr id="15" name="Shape 12"/>
          <p:cNvSpPr/>
          <p:nvPr/>
        </p:nvSpPr>
        <p:spPr>
          <a:xfrm>
            <a:off x="2697480" y="1892808"/>
            <a:ext cx="402336" cy="402336"/>
          </a:xfrm>
          <a:prstGeom prst="ellipse">
            <a:avLst/>
          </a:prstGeom>
          <a:solidFill>
            <a:srgbClr val="1F7A6D"/>
          </a:solidFill>
          <a:ln w="6350">
            <a:solidFill>
              <a:srgbClr val="1F7A6D"/>
            </a:solidFill>
            <a:prstDash val="solid"/>
          </a:ln>
        </p:spPr>
      </p:sp>
      <p:sp>
        <p:nvSpPr>
          <p:cNvPr id="16" name="Text 13"/>
          <p:cNvSpPr txBox="1"/>
          <p:nvPr/>
        </p:nvSpPr>
        <p:spPr>
          <a:xfrm>
            <a:off x="2697480" y="189280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B</a:t>
            </a:r>
            <a:endParaRPr lang="en-US" sz="1600" dirty="0"/>
          </a:p>
        </p:txBody>
      </p:sp>
      <p:sp>
        <p:nvSpPr>
          <p:cNvPr id="17" name="Text 14"/>
          <p:cNvSpPr txBox="1"/>
          <p:nvPr/>
        </p:nvSpPr>
        <p:spPr>
          <a:xfrm>
            <a:off x="3200400" y="1892808"/>
            <a:ext cx="1234440" cy="402336"/>
          </a:xfrm>
          <a:prstGeom prst="rect">
            <a:avLst/>
          </a:prstGeom>
          <a:noFill/>
          <a:ln/>
        </p:spPr>
        <p:txBody>
          <a:bodyPr wrap="square" lIns="0" tIns="0" rIns="0" bIns="0" rtlCol="0" anchor="ctr"/>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백엔드·배포</a:t>
            </a:r>
            <a:endParaRPr lang="en-US" sz="1400" dirty="0"/>
          </a:p>
        </p:txBody>
      </p:sp>
      <p:sp>
        <p:nvSpPr>
          <p:cNvPr id="18" name="Text 15"/>
          <p:cNvSpPr txBox="1"/>
          <p:nvPr/>
        </p:nvSpPr>
        <p:spPr>
          <a:xfrm>
            <a:off x="2697480" y="2395728"/>
            <a:ext cx="1691640" cy="256032"/>
          </a:xfrm>
          <a:prstGeom prst="rect">
            <a:avLst/>
          </a:prstGeom>
          <a:noFill/>
          <a:ln/>
        </p:spPr>
        <p:txBody>
          <a:bodyPr wrap="square" lIns="0" tIns="0" rIns="0" bIns="0" rtlCol="0" anchor="t"/>
          <a:lstStyle/>
          <a:p>
            <a:pPr indent="0" marL="0">
              <a:buNone/>
            </a:pPr>
            <a:r>
              <a:rPr lang="en-US" sz="950" dirty="0">
                <a:solidFill>
                  <a:srgbClr val="5B6B6B"/>
                </a:solidFill>
                <a:latin typeface="Malgun Gothic" pitchFamily="34" charset="0"/>
                <a:ea typeface="Malgun Gothic" pitchFamily="34" charset="-122"/>
                <a:cs typeface="Malgun Gothic" pitchFamily="34" charset="-120"/>
              </a:rPr>
              <a:t>app/main · routers · core</a:t>
            </a:r>
            <a:endParaRPr lang="en-US" sz="950" dirty="0"/>
          </a:p>
        </p:txBody>
      </p:sp>
      <p:sp>
        <p:nvSpPr>
          <p:cNvPr id="19" name="Text 16"/>
          <p:cNvSpPr txBox="1"/>
          <p:nvPr/>
        </p:nvSpPr>
        <p:spPr>
          <a:xfrm>
            <a:off x="2670048" y="2697480"/>
            <a:ext cx="1719072" cy="1097280"/>
          </a:xfrm>
          <a:prstGeom prst="rect">
            <a:avLst/>
          </a:prstGeom>
          <a:noFill/>
          <a:ln/>
        </p:spPr>
        <p:txBody>
          <a:bodyPr wrap="square" lIns="0" tIns="0" rIns="0" bIns="0" rtlCol="0" anchor="t"/>
          <a:lstStyle/>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API 3개 · 오류 코드 17종</a:t>
            </a:r>
            <a:endParaRPr lang="en-US" sz="1100" dirty="0"/>
          </a:p>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자동 배포 (Render·Vercel)</a:t>
            </a:r>
            <a:endParaRPr lang="en-US" sz="1100" dirty="0"/>
          </a:p>
        </p:txBody>
      </p:sp>
      <p:sp>
        <p:nvSpPr>
          <p:cNvPr id="20" name="Text 17"/>
          <p:cNvSpPr txBox="1"/>
          <p:nvPr/>
        </p:nvSpPr>
        <p:spPr>
          <a:xfrm>
            <a:off x="2697480" y="3813048"/>
            <a:ext cx="1691640" cy="246888"/>
          </a:xfrm>
          <a:prstGeom prst="rect">
            <a:avLst/>
          </a:prstGeom>
          <a:noFill/>
          <a:ln/>
        </p:spPr>
        <p:txBody>
          <a:bodyPr wrap="square" lIns="0" tIns="0" rIns="0" bIns="0" rtlCol="0" anchor="ctr"/>
          <a:lstStyle/>
          <a:p>
            <a:pPr indent="0" marL="0">
              <a:buNone/>
            </a:pPr>
            <a:r>
              <a:rPr lang="en-US" sz="1000" b="1" dirty="0">
                <a:solidFill>
                  <a:srgbClr val="1F7A6D"/>
                </a:solidFill>
                <a:latin typeface="Malgun Gothic" pitchFamily="34" charset="0"/>
                <a:ea typeface="Malgun Gothic" pitchFamily="34" charset="-122"/>
                <a:cs typeface="Malgun Gothic" pitchFamily="34" charset="-120"/>
              </a:rPr>
              <a:t>리뷰: C</a:t>
            </a:r>
            <a:endParaRPr lang="en-US" sz="1000" dirty="0"/>
          </a:p>
        </p:txBody>
      </p:sp>
      <p:sp>
        <p:nvSpPr>
          <p:cNvPr id="21" name="Shape 18"/>
          <p:cNvSpPr/>
          <p:nvPr/>
        </p:nvSpPr>
        <p:spPr>
          <a:xfrm>
            <a:off x="4663440" y="1783080"/>
            <a:ext cx="1920240" cy="2331720"/>
          </a:xfrm>
          <a:prstGeom prst="roundRect">
            <a:avLst>
              <a:gd name="adj" fmla="val 4762"/>
            </a:avLst>
          </a:prstGeom>
          <a:solidFill>
            <a:srgbClr val="E6F2EF"/>
          </a:solidFill>
          <a:ln w="6350">
            <a:solidFill>
              <a:srgbClr val="E6F2EF"/>
            </a:solidFill>
            <a:prstDash val="solid"/>
          </a:ln>
        </p:spPr>
      </p:sp>
      <p:sp>
        <p:nvSpPr>
          <p:cNvPr id="22" name="Shape 19"/>
          <p:cNvSpPr/>
          <p:nvPr/>
        </p:nvSpPr>
        <p:spPr>
          <a:xfrm>
            <a:off x="4800600" y="1892808"/>
            <a:ext cx="402336" cy="402336"/>
          </a:xfrm>
          <a:prstGeom prst="ellipse">
            <a:avLst/>
          </a:prstGeom>
          <a:solidFill>
            <a:srgbClr val="1F7A6D"/>
          </a:solidFill>
          <a:ln w="6350">
            <a:solidFill>
              <a:srgbClr val="1F7A6D"/>
            </a:solidFill>
            <a:prstDash val="solid"/>
          </a:ln>
        </p:spPr>
      </p:sp>
      <p:sp>
        <p:nvSpPr>
          <p:cNvPr id="23" name="Text 20"/>
          <p:cNvSpPr txBox="1"/>
          <p:nvPr/>
        </p:nvSpPr>
        <p:spPr>
          <a:xfrm>
            <a:off x="4800600" y="189280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C</a:t>
            </a:r>
            <a:endParaRPr lang="en-US" sz="1600" dirty="0"/>
          </a:p>
        </p:txBody>
      </p:sp>
      <p:sp>
        <p:nvSpPr>
          <p:cNvPr id="24" name="Text 21"/>
          <p:cNvSpPr txBox="1"/>
          <p:nvPr/>
        </p:nvSpPr>
        <p:spPr>
          <a:xfrm>
            <a:off x="5303520" y="1892808"/>
            <a:ext cx="1234440" cy="402336"/>
          </a:xfrm>
          <a:prstGeom prst="rect">
            <a:avLst/>
          </a:prstGeom>
          <a:noFill/>
          <a:ln/>
        </p:spPr>
        <p:txBody>
          <a:bodyPr wrap="square" lIns="0" tIns="0" rIns="0" bIns="0" rtlCol="0" anchor="ctr"/>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데이터 분석</a:t>
            </a:r>
            <a:endParaRPr lang="en-US" sz="1400" dirty="0"/>
          </a:p>
        </p:txBody>
      </p:sp>
      <p:sp>
        <p:nvSpPr>
          <p:cNvPr id="25" name="Text 22"/>
          <p:cNvSpPr txBox="1"/>
          <p:nvPr/>
        </p:nvSpPr>
        <p:spPr>
          <a:xfrm>
            <a:off x="4800600" y="2395728"/>
            <a:ext cx="1691640" cy="256032"/>
          </a:xfrm>
          <a:prstGeom prst="rect">
            <a:avLst/>
          </a:prstGeom>
          <a:noFill/>
          <a:ln/>
        </p:spPr>
        <p:txBody>
          <a:bodyPr wrap="square" lIns="0" tIns="0" rIns="0" bIns="0" rtlCol="0" anchor="t"/>
          <a:lstStyle/>
          <a:p>
            <a:pPr indent="0" marL="0">
              <a:buNone/>
            </a:pPr>
            <a:r>
              <a:rPr lang="en-US" sz="950" dirty="0">
                <a:solidFill>
                  <a:srgbClr val="5B6B6B"/>
                </a:solidFill>
                <a:latin typeface="Malgun Gothic" pitchFamily="34" charset="0"/>
                <a:ea typeface="Malgun Gothic" pitchFamily="34" charset="-122"/>
                <a:cs typeface="Malgun Gothic" pitchFamily="34" charset="-120"/>
              </a:rPr>
              <a:t>analysis/ · fixtures/</a:t>
            </a:r>
            <a:endParaRPr lang="en-US" sz="950" dirty="0"/>
          </a:p>
        </p:txBody>
      </p:sp>
      <p:sp>
        <p:nvSpPr>
          <p:cNvPr id="26" name="Text 23"/>
          <p:cNvSpPr txBox="1"/>
          <p:nvPr/>
        </p:nvSpPr>
        <p:spPr>
          <a:xfrm>
            <a:off x="4773168" y="2697480"/>
            <a:ext cx="1719072" cy="1097280"/>
          </a:xfrm>
          <a:prstGeom prst="rect">
            <a:avLst/>
          </a:prstGeom>
          <a:noFill/>
          <a:ln/>
        </p:spPr>
        <p:txBody>
          <a:bodyPr wrap="square" lIns="0" tIns="0" rIns="0" bIns="0" rtlCol="0" anchor="t"/>
          <a:lstStyle/>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정규화·KPI·이상 신호</a:t>
            </a:r>
            <a:endParaRPr lang="en-US" sz="1100" dirty="0"/>
          </a:p>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정답 파일·테스트</a:t>
            </a:r>
            <a:endParaRPr lang="en-US" sz="1100" dirty="0"/>
          </a:p>
        </p:txBody>
      </p:sp>
      <p:sp>
        <p:nvSpPr>
          <p:cNvPr id="27" name="Text 24"/>
          <p:cNvSpPr txBox="1"/>
          <p:nvPr/>
        </p:nvSpPr>
        <p:spPr>
          <a:xfrm>
            <a:off x="4800600" y="3813048"/>
            <a:ext cx="1691640" cy="246888"/>
          </a:xfrm>
          <a:prstGeom prst="rect">
            <a:avLst/>
          </a:prstGeom>
          <a:noFill/>
          <a:ln/>
        </p:spPr>
        <p:txBody>
          <a:bodyPr wrap="square" lIns="0" tIns="0" rIns="0" bIns="0" rtlCol="0" anchor="ctr"/>
          <a:lstStyle/>
          <a:p>
            <a:pPr indent="0" marL="0">
              <a:buNone/>
            </a:pPr>
            <a:r>
              <a:rPr lang="en-US" sz="1000" b="1" dirty="0">
                <a:solidFill>
                  <a:srgbClr val="1F7A6D"/>
                </a:solidFill>
                <a:latin typeface="Malgun Gothic" pitchFamily="34" charset="0"/>
                <a:ea typeface="Malgun Gothic" pitchFamily="34" charset="-122"/>
                <a:cs typeface="Malgun Gothic" pitchFamily="34" charset="-120"/>
              </a:rPr>
              <a:t>리뷰: D</a:t>
            </a:r>
            <a:endParaRPr lang="en-US" sz="1000" dirty="0"/>
          </a:p>
        </p:txBody>
      </p:sp>
      <p:sp>
        <p:nvSpPr>
          <p:cNvPr id="28" name="Shape 25"/>
          <p:cNvSpPr/>
          <p:nvPr/>
        </p:nvSpPr>
        <p:spPr>
          <a:xfrm>
            <a:off x="6766560" y="1783080"/>
            <a:ext cx="1920240" cy="2331720"/>
          </a:xfrm>
          <a:prstGeom prst="roundRect">
            <a:avLst>
              <a:gd name="adj" fmla="val 4762"/>
            </a:avLst>
          </a:prstGeom>
          <a:solidFill>
            <a:srgbClr val="E6F2EF"/>
          </a:solidFill>
          <a:ln w="6350">
            <a:solidFill>
              <a:srgbClr val="E6F2EF"/>
            </a:solidFill>
            <a:prstDash val="solid"/>
          </a:ln>
        </p:spPr>
      </p:sp>
      <p:sp>
        <p:nvSpPr>
          <p:cNvPr id="29" name="Shape 26"/>
          <p:cNvSpPr/>
          <p:nvPr/>
        </p:nvSpPr>
        <p:spPr>
          <a:xfrm>
            <a:off x="6903720" y="1892808"/>
            <a:ext cx="402336" cy="402336"/>
          </a:xfrm>
          <a:prstGeom prst="ellipse">
            <a:avLst/>
          </a:prstGeom>
          <a:solidFill>
            <a:srgbClr val="1F7A6D"/>
          </a:solidFill>
          <a:ln w="6350">
            <a:solidFill>
              <a:srgbClr val="1F7A6D"/>
            </a:solidFill>
            <a:prstDash val="solid"/>
          </a:ln>
        </p:spPr>
      </p:sp>
      <p:sp>
        <p:nvSpPr>
          <p:cNvPr id="30" name="Text 27"/>
          <p:cNvSpPr txBox="1"/>
          <p:nvPr/>
        </p:nvSpPr>
        <p:spPr>
          <a:xfrm>
            <a:off x="6903720" y="189280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D</a:t>
            </a:r>
            <a:endParaRPr lang="en-US" sz="1600" dirty="0"/>
          </a:p>
        </p:txBody>
      </p:sp>
      <p:sp>
        <p:nvSpPr>
          <p:cNvPr id="31" name="Text 28"/>
          <p:cNvSpPr txBox="1"/>
          <p:nvPr/>
        </p:nvSpPr>
        <p:spPr>
          <a:xfrm>
            <a:off x="7406640" y="1892808"/>
            <a:ext cx="1234440" cy="402336"/>
          </a:xfrm>
          <a:prstGeom prst="rect">
            <a:avLst/>
          </a:prstGeom>
          <a:noFill/>
          <a:ln/>
        </p:spPr>
        <p:txBody>
          <a:bodyPr wrap="square" lIns="0" tIns="0" rIns="0" bIns="0" rtlCol="0" anchor="ctr"/>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AI</a:t>
            </a:r>
            <a:endParaRPr lang="en-US" sz="1400" dirty="0"/>
          </a:p>
        </p:txBody>
      </p:sp>
      <p:sp>
        <p:nvSpPr>
          <p:cNvPr id="32" name="Text 29"/>
          <p:cNvSpPr txBox="1"/>
          <p:nvPr/>
        </p:nvSpPr>
        <p:spPr>
          <a:xfrm>
            <a:off x="6903720" y="2395728"/>
            <a:ext cx="1691640" cy="256032"/>
          </a:xfrm>
          <a:prstGeom prst="rect">
            <a:avLst/>
          </a:prstGeom>
          <a:noFill/>
          <a:ln/>
        </p:spPr>
        <p:txBody>
          <a:bodyPr wrap="square" lIns="0" tIns="0" rIns="0" bIns="0" rtlCol="0" anchor="t"/>
          <a:lstStyle/>
          <a:p>
            <a:pPr indent="0" marL="0">
              <a:buNone/>
            </a:pPr>
            <a:r>
              <a:rPr lang="en-US" sz="950" dirty="0">
                <a:solidFill>
                  <a:srgbClr val="5B6B6B"/>
                </a:solidFill>
                <a:latin typeface="Malgun Gothic" pitchFamily="34" charset="0"/>
                <a:ea typeface="Malgun Gothic" pitchFamily="34" charset="-122"/>
                <a:cs typeface="Malgun Gothic" pitchFamily="34" charset="-120"/>
              </a:rPr>
              <a:t>ai/</a:t>
            </a:r>
            <a:endParaRPr lang="en-US" sz="950" dirty="0"/>
          </a:p>
        </p:txBody>
      </p:sp>
      <p:sp>
        <p:nvSpPr>
          <p:cNvPr id="33" name="Text 30"/>
          <p:cNvSpPr txBox="1"/>
          <p:nvPr/>
        </p:nvSpPr>
        <p:spPr>
          <a:xfrm>
            <a:off x="6876288" y="2697480"/>
            <a:ext cx="1719072" cy="1097280"/>
          </a:xfrm>
          <a:prstGeom prst="rect">
            <a:avLst/>
          </a:prstGeom>
          <a:noFill/>
          <a:ln/>
        </p:spPr>
        <p:txBody>
          <a:bodyPr wrap="square" lIns="0" tIns="0" rIns="0" bIns="0" rtlCol="0" anchor="t"/>
          <a:lstStyle/>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질문 해석 · 근거 검증</a:t>
            </a:r>
            <a:endParaRPr lang="en-US" sz="1100" dirty="0"/>
          </a:p>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상품 진단</a:t>
            </a:r>
            <a:endParaRPr lang="en-US" sz="1100" dirty="0"/>
          </a:p>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AI 품질 테스트</a:t>
            </a:r>
            <a:endParaRPr lang="en-US" sz="1100" dirty="0"/>
          </a:p>
        </p:txBody>
      </p:sp>
      <p:sp>
        <p:nvSpPr>
          <p:cNvPr id="34" name="Text 31"/>
          <p:cNvSpPr txBox="1"/>
          <p:nvPr/>
        </p:nvSpPr>
        <p:spPr>
          <a:xfrm>
            <a:off x="6903720" y="3813048"/>
            <a:ext cx="1691640" cy="246888"/>
          </a:xfrm>
          <a:prstGeom prst="rect">
            <a:avLst/>
          </a:prstGeom>
          <a:noFill/>
          <a:ln/>
        </p:spPr>
        <p:txBody>
          <a:bodyPr wrap="square" lIns="0" tIns="0" rIns="0" bIns="0" rtlCol="0" anchor="ctr"/>
          <a:lstStyle/>
          <a:p>
            <a:pPr indent="0" marL="0">
              <a:buNone/>
            </a:pPr>
            <a:r>
              <a:rPr lang="en-US" sz="1000" b="1" dirty="0">
                <a:solidFill>
                  <a:srgbClr val="1F7A6D"/>
                </a:solidFill>
                <a:latin typeface="Malgun Gothic" pitchFamily="34" charset="0"/>
                <a:ea typeface="Malgun Gothic" pitchFamily="34" charset="-122"/>
                <a:cs typeface="Malgun Gothic" pitchFamily="34" charset="-120"/>
              </a:rPr>
              <a:t>리뷰: A</a:t>
            </a:r>
            <a:endParaRPr lang="en-US" sz="1000" dirty="0"/>
          </a:p>
        </p:txBody>
      </p:sp>
      <p:sp>
        <p:nvSpPr>
          <p:cNvPr id="35" name="Shape 32"/>
          <p:cNvSpPr/>
          <p:nvPr/>
        </p:nvSpPr>
        <p:spPr>
          <a:xfrm>
            <a:off x="457200" y="4224528"/>
            <a:ext cx="8229600" cy="384048"/>
          </a:xfrm>
          <a:prstGeom prst="roundRect">
            <a:avLst>
              <a:gd name="adj" fmla="val 23810"/>
            </a:avLst>
          </a:prstGeom>
          <a:solidFill>
            <a:srgbClr val="0E3B3B"/>
          </a:solidFill>
          <a:ln w="6350">
            <a:solidFill>
              <a:srgbClr val="0E3B3B"/>
            </a:solidFill>
            <a:prstDash val="solid"/>
          </a:ln>
        </p:spPr>
      </p:sp>
      <p:sp>
        <p:nvSpPr>
          <p:cNvPr id="36" name="Text 33"/>
          <p:cNvSpPr txBox="1"/>
          <p:nvPr/>
        </p:nvSpPr>
        <p:spPr>
          <a:xfrm>
            <a:off x="457200" y="4224528"/>
            <a:ext cx="8229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공통: 데이터 구조·API는 계약 문서로 먼저 정하고, 바꿀 때는 작성자 + 3명 동의</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한계와 향후 과제</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한계를 알고 쓰는 서비스, 다음은 상품 단위 병합</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TEST_RESULTS 4장 · D님 한계 메모</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19 / 20</a:t>
            </a:r>
            <a:endParaRPr lang="en-US" sz="1000" dirty="0"/>
          </a:p>
        </p:txBody>
      </p:sp>
      <p:sp>
        <p:nvSpPr>
          <p:cNvPr id="7" name="Text 4"/>
          <p:cNvSpPr txBox="1"/>
          <p:nvPr/>
        </p:nvSpPr>
        <p:spPr>
          <a:xfrm>
            <a:off x="457200" y="1828800"/>
            <a:ext cx="3657600" cy="274320"/>
          </a:xfrm>
          <a:prstGeom prst="rect">
            <a:avLst/>
          </a:prstGeom>
          <a:noFill/>
          <a:ln/>
        </p:spPr>
        <p:txBody>
          <a:bodyPr wrap="square" lIns="0" tIns="0" rIns="0" bIns="0" rtlCol="0" anchor="t"/>
          <a:lstStyle/>
          <a:p>
            <a:pPr indent="0" marL="0">
              <a:buNone/>
            </a:pPr>
            <a:r>
              <a:rPr lang="en-US" sz="1400" b="1" dirty="0">
                <a:solidFill>
                  <a:srgbClr val="5B6B6B"/>
                </a:solidFill>
                <a:latin typeface="Malgun Gothic" pitchFamily="34" charset="0"/>
                <a:ea typeface="Malgun Gothic" pitchFamily="34" charset="-122"/>
                <a:cs typeface="Malgun Gothic" pitchFamily="34" charset="-120"/>
              </a:rPr>
              <a:t>알려진 한계</a:t>
            </a:r>
            <a:endParaRPr lang="en-US" sz="1400" dirty="0"/>
          </a:p>
        </p:txBody>
      </p:sp>
      <p:sp>
        <p:nvSpPr>
          <p:cNvPr id="8" name="Shape 5"/>
          <p:cNvSpPr/>
          <p:nvPr/>
        </p:nvSpPr>
        <p:spPr>
          <a:xfrm>
            <a:off x="512064" y="2372868"/>
            <a:ext cx="146304" cy="146304"/>
          </a:xfrm>
          <a:prstGeom prst="ellipse">
            <a:avLst/>
          </a:prstGeom>
          <a:solidFill>
            <a:srgbClr val="1F7A6D"/>
          </a:solidFill>
          <a:ln w="6350">
            <a:solidFill>
              <a:srgbClr val="1F7A6D"/>
            </a:solidFill>
            <a:prstDash val="solid"/>
          </a:ln>
        </p:spPr>
      </p:sp>
      <p:sp>
        <p:nvSpPr>
          <p:cNvPr id="9" name="Text 6"/>
          <p:cNvSpPr txBox="1"/>
          <p:nvPr/>
        </p:nvSpPr>
        <p:spPr>
          <a:xfrm>
            <a:off x="512064" y="2372868"/>
            <a:ext cx="146304" cy="146304"/>
          </a:xfrm>
          <a:prstGeom prst="rect">
            <a:avLst/>
          </a:prstGeom>
          <a:noFill/>
          <a:ln/>
        </p:spPr>
        <p:txBody>
          <a:bodyPr wrap="square" lIns="0" tIns="0" rIns="0" bIns="0" rtlCol="0" anchor="ctr"/>
          <a:lstStyle/>
          <a:p>
            <a:pPr algn="ctr" indent="0" marL="0">
              <a:buNone/>
            </a:pPr>
            <a:endParaRPr lang="en-US" sz="800" dirty="0"/>
          </a:p>
        </p:txBody>
      </p:sp>
      <p:sp>
        <p:nvSpPr>
          <p:cNvPr id="10" name="Text 7"/>
          <p:cNvSpPr txBox="1"/>
          <p:nvPr/>
        </p:nvSpPr>
        <p:spPr>
          <a:xfrm>
            <a:off x="822960" y="2194560"/>
            <a:ext cx="786384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판매·광고 상품 ID가 달라 상품 단위 병합은 불가 — 플랫폼·월 합계는 정확</a:t>
            </a:r>
            <a:endParaRPr lang="en-US" sz="1400" dirty="0"/>
          </a:p>
        </p:txBody>
      </p:sp>
      <p:sp>
        <p:nvSpPr>
          <p:cNvPr id="11" name="Shape 8"/>
          <p:cNvSpPr/>
          <p:nvPr/>
        </p:nvSpPr>
        <p:spPr>
          <a:xfrm>
            <a:off x="512064" y="2967228"/>
            <a:ext cx="146304" cy="146304"/>
          </a:xfrm>
          <a:prstGeom prst="ellipse">
            <a:avLst/>
          </a:prstGeom>
          <a:solidFill>
            <a:srgbClr val="1F7A6D"/>
          </a:solidFill>
          <a:ln w="6350">
            <a:solidFill>
              <a:srgbClr val="1F7A6D"/>
            </a:solidFill>
            <a:prstDash val="solid"/>
          </a:ln>
        </p:spPr>
      </p:sp>
      <p:sp>
        <p:nvSpPr>
          <p:cNvPr id="12" name="Text 9"/>
          <p:cNvSpPr txBox="1"/>
          <p:nvPr/>
        </p:nvSpPr>
        <p:spPr>
          <a:xfrm>
            <a:off x="512064" y="2967228"/>
            <a:ext cx="146304" cy="146304"/>
          </a:xfrm>
          <a:prstGeom prst="rect">
            <a:avLst/>
          </a:prstGeom>
          <a:noFill/>
          <a:ln/>
        </p:spPr>
        <p:txBody>
          <a:bodyPr wrap="square" lIns="0" tIns="0" rIns="0" bIns="0" rtlCol="0" anchor="ctr"/>
          <a:lstStyle/>
          <a:p>
            <a:pPr algn="ctr" indent="0" marL="0">
              <a:buNone/>
            </a:pPr>
            <a:endParaRPr lang="en-US" sz="800" dirty="0"/>
          </a:p>
        </p:txBody>
      </p:sp>
      <p:sp>
        <p:nvSpPr>
          <p:cNvPr id="13" name="Text 10"/>
          <p:cNvSpPr txBox="1"/>
          <p:nvPr/>
        </p:nvSpPr>
        <p:spPr>
          <a:xfrm>
            <a:off x="822960" y="2788920"/>
            <a:ext cx="786384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쿠팡 광고매출은 14일 기준 — 1일 기준이면 ROAS가 다르다 (551.8% → 417.9%)</a:t>
            </a:r>
            <a:endParaRPr lang="en-US" sz="1400" dirty="0"/>
          </a:p>
        </p:txBody>
      </p:sp>
      <p:sp>
        <p:nvSpPr>
          <p:cNvPr id="14" name="Shape 11"/>
          <p:cNvSpPr/>
          <p:nvPr/>
        </p:nvSpPr>
        <p:spPr>
          <a:xfrm>
            <a:off x="512064" y="3561588"/>
            <a:ext cx="146304" cy="146304"/>
          </a:xfrm>
          <a:prstGeom prst="ellipse">
            <a:avLst/>
          </a:prstGeom>
          <a:solidFill>
            <a:srgbClr val="1F7A6D"/>
          </a:solidFill>
          <a:ln w="6350">
            <a:solidFill>
              <a:srgbClr val="1F7A6D"/>
            </a:solidFill>
            <a:prstDash val="solid"/>
          </a:ln>
        </p:spPr>
      </p:sp>
      <p:sp>
        <p:nvSpPr>
          <p:cNvPr id="15" name="Text 12"/>
          <p:cNvSpPr txBox="1"/>
          <p:nvPr/>
        </p:nvSpPr>
        <p:spPr>
          <a:xfrm>
            <a:off x="512064" y="3561588"/>
            <a:ext cx="146304" cy="146304"/>
          </a:xfrm>
          <a:prstGeom prst="rect">
            <a:avLst/>
          </a:prstGeom>
          <a:noFill/>
          <a:ln/>
        </p:spPr>
        <p:txBody>
          <a:bodyPr wrap="square" lIns="0" tIns="0" rIns="0" bIns="0" rtlCol="0" anchor="ctr"/>
          <a:lstStyle/>
          <a:p>
            <a:pPr algn="ctr" indent="0" marL="0">
              <a:buNone/>
            </a:pPr>
            <a:endParaRPr lang="en-US" sz="800" dirty="0"/>
          </a:p>
        </p:txBody>
      </p:sp>
      <p:sp>
        <p:nvSpPr>
          <p:cNvPr id="16" name="Text 13"/>
          <p:cNvSpPr txBox="1"/>
          <p:nvPr/>
        </p:nvSpPr>
        <p:spPr>
          <a:xfrm>
            <a:off x="822960" y="3383280"/>
            <a:ext cx="786384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실제 형식을 본뜬 합성 샘플로 검증 — 실제 판매 데이터 검증은 아님</a:t>
            </a:r>
            <a:endParaRPr lang="en-US" sz="1400" dirty="0"/>
          </a:p>
        </p:txBody>
      </p:sp>
      <p:sp>
        <p:nvSpPr>
          <p:cNvPr id="17" name="Text 14"/>
          <p:cNvSpPr txBox="1"/>
          <p:nvPr/>
        </p:nvSpPr>
        <p:spPr>
          <a:xfrm>
            <a:off x="457200" y="4114800"/>
            <a:ext cx="8229600" cy="457200"/>
          </a:xfrm>
          <a:prstGeom prst="rect">
            <a:avLst/>
          </a:prstGeom>
          <a:noFill/>
          <a:ln/>
        </p:spPr>
        <p:txBody>
          <a:bodyPr wrap="square" lIns="0" tIns="0" rIns="0" bIns="0" rtlCol="0" anchor="t"/>
          <a:lstStyle/>
          <a:p>
            <a:pPr indent="0" marL="0">
              <a:buNone/>
            </a:pPr>
            <a:r>
              <a:rPr lang="en-US" sz="1150" dirty="0">
                <a:solidFill>
                  <a:srgbClr val="5B6B6B"/>
                </a:solidFill>
                <a:latin typeface="Malgun Gothic" pitchFamily="34" charset="0"/>
                <a:ea typeface="Malgun Gothic" pitchFamily="34" charset="-122"/>
                <a:cs typeface="Malgun Gothic" pitchFamily="34" charset="-120"/>
              </a:rPr>
              <a:t>그 밖에: 로그인·저장 없음(MVP) · 같은 파일을 두 번 올리면 중복 집계 · 미래 예측과 원가·재고·마진 분석은 안 함</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3B3B"/>
        </a:solidFill>
      </p:bgPr>
    </p:bg>
    <p:spTree>
      <p:nvGrpSpPr>
        <p:cNvPr id="1" name=""/>
        <p:cNvGrpSpPr/>
        <p:nvPr/>
      </p:nvGrpSpPr>
      <p:grpSpPr>
        <a:xfrm>
          <a:off x="0" y="0"/>
          <a:ext cx="0" cy="0"/>
          <a:chOff x="0" y="0"/>
          <a:chExt cx="0" cy="0"/>
        </a:xfrm>
      </p:grpSpPr>
      <p:sp>
        <p:nvSpPr>
          <p:cNvPr id="2" name="Text 0"/>
          <p:cNvSpPr txBox="1"/>
          <p:nvPr/>
        </p:nvSpPr>
        <p:spPr>
          <a:xfrm>
            <a:off x="640080" y="1371600"/>
            <a:ext cx="7863840" cy="1005840"/>
          </a:xfrm>
          <a:prstGeom prst="rect">
            <a:avLst/>
          </a:prstGeom>
          <a:noFill/>
          <a:ln/>
        </p:spPr>
        <p:txBody>
          <a:bodyPr wrap="square" lIns="0" tIns="0" rIns="0" bIns="0" rtlCol="0" anchor="ctr"/>
          <a:lstStyle/>
          <a:p>
            <a:pPr indent="0" marL="0">
              <a:buNone/>
            </a:pPr>
            <a:r>
              <a:rPr lang="en-US" sz="4800" b="1" dirty="0">
                <a:solidFill>
                  <a:srgbClr val="FFFFFF"/>
                </a:solidFill>
                <a:latin typeface="Malgun Gothic" pitchFamily="34" charset="0"/>
                <a:ea typeface="Malgun Gothic" pitchFamily="34" charset="-122"/>
                <a:cs typeface="Malgun Gothic" pitchFamily="34" charset="-120"/>
              </a:rPr>
              <a:t>감사합니다</a:t>
            </a:r>
            <a:endParaRPr lang="en-US" sz="4800" dirty="0"/>
          </a:p>
        </p:txBody>
      </p:sp>
      <p:sp>
        <p:nvSpPr>
          <p:cNvPr id="3" name="Text 1"/>
          <p:cNvSpPr txBox="1"/>
          <p:nvPr/>
        </p:nvSpPr>
        <p:spPr>
          <a:xfrm>
            <a:off x="640080" y="2514600"/>
            <a:ext cx="7863840" cy="457200"/>
          </a:xfrm>
          <a:prstGeom prst="rect">
            <a:avLst/>
          </a:prstGeom>
          <a:noFill/>
          <a:ln/>
        </p:spPr>
        <p:txBody>
          <a:bodyPr wrap="square" lIns="0" tIns="0" rIns="0" bIns="0" rtlCol="0" anchor="t"/>
          <a:lstStyle/>
          <a:p>
            <a:pPr indent="0" marL="0">
              <a:buNone/>
            </a:pPr>
            <a:r>
              <a:rPr lang="en-US" sz="2000" dirty="0">
                <a:solidFill>
                  <a:srgbClr val="CADFD9"/>
                </a:solidFill>
                <a:latin typeface="Malgun Gothic" pitchFamily="34" charset="0"/>
                <a:ea typeface="Malgun Gothic" pitchFamily="34" charset="-122"/>
                <a:cs typeface="Malgun Gothic" pitchFamily="34" charset="-120"/>
              </a:rPr>
              <a:t>질문은 각 파트 담당이 직접 답해요</a:t>
            </a:r>
            <a:endParaRPr lang="en-US" sz="2000" dirty="0"/>
          </a:p>
        </p:txBody>
      </p:sp>
      <p:sp>
        <p:nvSpPr>
          <p:cNvPr id="4" name="Shape 2"/>
          <p:cNvSpPr/>
          <p:nvPr/>
        </p:nvSpPr>
        <p:spPr>
          <a:xfrm>
            <a:off x="640080" y="3474720"/>
            <a:ext cx="5120640" cy="731520"/>
          </a:xfrm>
          <a:prstGeom prst="roundRect">
            <a:avLst>
              <a:gd name="adj" fmla="val 12500"/>
            </a:avLst>
          </a:prstGeom>
          <a:solidFill>
            <a:srgbClr val="17504F"/>
          </a:solidFill>
          <a:ln w="6350">
            <a:solidFill>
              <a:srgbClr val="17504F"/>
            </a:solidFill>
            <a:prstDash val="solid"/>
          </a:ln>
        </p:spPr>
      </p:sp>
      <p:sp>
        <p:nvSpPr>
          <p:cNvPr id="5" name="Text 3"/>
          <p:cNvSpPr txBox="1"/>
          <p:nvPr/>
        </p:nvSpPr>
        <p:spPr>
          <a:xfrm>
            <a:off x="868680" y="3474720"/>
            <a:ext cx="4754880" cy="731520"/>
          </a:xfrm>
          <a:prstGeom prst="rect">
            <a:avLst/>
          </a:prstGeom>
          <a:noFill/>
          <a:ln/>
        </p:spPr>
        <p:txBody>
          <a:bodyPr wrap="square" lIns="0" tIns="0" rIns="0" bIns="0" rtlCol="0" anchor="ctr"/>
          <a:lstStyle/>
          <a:p>
            <a:pPr indent="0" marL="0">
              <a:buNone/>
            </a:pPr>
            <a:r>
              <a:rPr lang="en-US" sz="1200" b="1" dirty="0">
                <a:solidFill>
                  <a:srgbClr val="F5B83D"/>
                </a:solidFill>
                <a:latin typeface="Malgun Gothic" pitchFamily="34" charset="0"/>
                <a:ea typeface="Malgun Gothic" pitchFamily="34" charset="-122"/>
                <a:cs typeface="Malgun Gothic" pitchFamily="34" charset="-120"/>
              </a:rPr>
              <a:t>시연 주소  </a:t>
            </a:r>
            <a:pPr indent="0" marL="0">
              <a:buNone/>
            </a:pPr>
            <a:r>
              <a:rPr lang="en-US" sz="1600" dirty="0">
                <a:solidFill>
                  <a:srgbClr val="FFFFFF"/>
                </a:solidFill>
                <a:latin typeface="Malgun Gothic" pitchFamily="34" charset="0"/>
                <a:ea typeface="Malgun Gothic" pitchFamily="34" charset="-122"/>
                <a:cs typeface="Malgun Gothic" pitchFamily="34" charset="-120"/>
              </a:rPr>
              <a:t>ai-seller-insight.vercel.app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Seller Insight AI</dc:title>
  <dc:subject>PptxGenJS Presentation</dc:subject>
  <dc:creator>Seller Insight AI 팀</dc:creator>
  <cp:lastModifiedBy>Seller Insight AI 팀</cp:lastModifiedBy>
  <cp:revision>1</cp:revision>
  <dcterms:created xsi:type="dcterms:W3CDTF">2026-10-01T08:58:14Z</dcterms:created>
  <dcterms:modified xsi:type="dcterms:W3CDTF">2026-10-01T08:58:14Z</dcterms:modified>
</cp:coreProperties>
</file>